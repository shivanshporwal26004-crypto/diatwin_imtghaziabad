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2896d5-37cf-b326-8640-7f1e923bb01e}">
          <p14:sldIdLst>
            <p14:sldId id="256"/>
          </p14:sldIdLst>
        </p14:section>
        <p14:section name="Problem and solution" id="{afb84efc-6ce5-008e-870a-771f27c46111}">
          <p14:sldIdLst>
            <p14:sldId id="257"/>
            <p14:sldId id="258"/>
            <p14:sldId id="259"/>
          </p14:sldIdLst>
        </p14:section>
        <p14:section name="Build" id="{e86cdcc8-c1ab-0343-59e2-b929a3273c82}">
          <p14:sldIdLst>
            <p14:sldId id="260"/>
            <p14:sldId id="261"/>
            <p14:sldId id="262"/>
            <p14:sldId id="263"/>
            <p14:sldId id="264"/>
          </p14:sldIdLst>
        </p14:section>
        <p14:section name="Results" id="{9973c033-9c9a-4ace-562f-0df91271625e}">
          <p14:sldIdLst>
            <p14:sldId id="265"/>
            <p14:sldId id="266"/>
            <p14:sldId id="267"/>
            <p14:sldId id="268"/>
            <p14:sldId id="269"/>
            <p14:sldId id="270"/>
            <p14:sldId id="271"/>
            <p14:sldId id="272"/>
            <p14:sldId id="273"/>
            <p14:sldId id="274"/>
            <p14:sldId id="275"/>
            <p14:sldId id="276"/>
          </p14:sldIdLst>
        </p14:section>
        <p14:section name="Context and close" id="{ba6e11cd-6075-2b2f-33e0-830f28d78929}">
          <p14:sldIdLst>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2-hour forecast error (MAE, mg/dL)</a:t>
            </a:r>
          </a:p>
        </c:rich>
      </c:tx>
      <c:layout/>
      <c:overlay val="0"/>
    </c:title>
    <c:autoTitleDeleted val="0"/>
    <c:plotArea>
      <c:layout/>
      <c:barChart>
        <c:barDir val="col"/>
        <c:grouping val="clustered"/>
        <c:varyColors val="0"/>
        <c:ser>
          <c:idx val="0"/>
          <c:order val="0"/>
          <c:tx>
            <c:strRef>
              <c:f>Sheet1!$B$1</c:f>
              <c:strCache>
                <c:ptCount val="1"/>
                <c:pt idx="0">
                  <c:v>MAE</c:v>
                </c:pt>
              </c:strCache>
            </c:strRef>
          </c:tx>
          <c:spPr>
            <a:solidFill>
              <a:srgbClr val="8A94A6"/>
            </a:solidFill>
            <a:effectLst/>
          </c:spPr>
          <c:invertIfNegative val="0"/>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8A94A6"/>
              </a:solidFill>
              <a:effectLst/>
            </c:spPr>
          </c:dPt>
          <c:dPt>
            <c:idx val="1"/>
            <c:invertIfNegative val="0"/>
            <c:bubble3D val="0"/>
            <c:spPr>
              <a:solidFill>
                <a:srgbClr val="9DB4C0"/>
              </a:solidFill>
              <a:effectLst/>
            </c:spPr>
          </c:dPt>
          <c:dPt>
            <c:idx val="2"/>
            <c:invertIfNegative val="0"/>
            <c:bubble3D val="0"/>
            <c:spPr>
              <a:solidFill>
                <a:srgbClr val="5C8EA8"/>
              </a:solidFill>
              <a:effectLst/>
            </c:spPr>
          </c:dPt>
          <c:dPt>
            <c:idx val="3"/>
            <c:invertIfNegative val="0"/>
            <c:bubble3D val="0"/>
            <c:spPr>
              <a:solidFill>
                <a:srgbClr val="5C8EA8"/>
              </a:solidFill>
              <a:effectLst/>
            </c:spPr>
          </c:dPt>
          <c:dPt>
            <c:idx val="4"/>
            <c:invertIfNegative val="0"/>
            <c:bubble3D val="0"/>
            <c:spPr>
              <a:solidFill>
                <a:srgbClr val="0E9F8E"/>
              </a:solidFill>
              <a:effectLst/>
            </c:spPr>
          </c:dPt>
          <c:cat>
            <c:multiLvlStrRef>
              <c:f>Sheet1!$A$2:$A$6</c:f>
              <c:multiLvlStrCache>
                <c:ptCount val="5"/>
                <c:lvl>
                  <c:pt idx="0">
                    <c:v>Persistence</c:v>
                  </c:pt>
                  <c:pt idx="1">
                    <c:v>CGM only</c:v>
                  </c:pt>
                  <c:pt idx="2">
                    <c:v>CGM + wearables</c:v>
                  </c:pt>
                  <c:pt idx="3">
                    <c:v>CGM + EHR</c:v>
                  </c:pt>
                  <c:pt idx="4">
                    <c:v>Full fusion</c:v>
                  </c:pt>
                </c:lvl>
              </c:multiLvlStrCache>
            </c:multiLvlStrRef>
          </c:cat>
          <c:val>
            <c:numRef>
              <c:f>Sheet1!$B$2:$B$6</c:f>
              <c:numCache>
                <c:formatCode>General</c:formatCode>
                <c:ptCount val="5"/>
                <c:pt idx="0">
                  <c:v>26.5</c:v>
                </c:pt>
                <c:pt idx="1">
                  <c:v>14.2</c:v>
                </c:pt>
                <c:pt idx="2">
                  <c:v>13.9</c:v>
                </c:pt>
                <c:pt idx="3">
                  <c:v>13.3</c:v>
                </c:pt>
                <c:pt idx="4">
                  <c:v>12.9</c:v>
                </c:pt>
              </c:numCache>
            </c:numRef>
          </c:val>
        </c:ser>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4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3D"/>
                </a:solidFill>
                <a:latin typeface="+mn-lt"/>
              </a:defRPr>
            </a:pPr>
            <a:r>
              <a:rPr sz="1400" b="0" i="0" u="none" strike="noStrike">
                <a:solidFill>
                  <a:srgbClr val="14213D"/>
                </a:solidFill>
                <a:latin typeface="+mn-lt"/>
              </a:rPr>
              <a:t>New patient: forecast error (MAE, mg/dL)</a:t>
            </a:r>
          </a:p>
        </c:rich>
      </c:tx>
      <c:layout/>
      <c:overlay val="0"/>
    </c:title>
    <c:autoTitleDeleted val="0"/>
    <c:plotArea>
      <c:layout/>
      <c:barChart>
        <c:barDir val="col"/>
        <c:grouping val="clustered"/>
        <c:varyColors val="0"/>
        <c:ser>
          <c:idx val="0"/>
          <c:order val="0"/>
          <c:tx>
            <c:strRef>
              <c:f>Sheet1!$B$1</c:f>
              <c:strCache>
                <c:ptCount val="1"/>
                <c:pt idx="0">
                  <c:v>MAE</c:v>
                </c:pt>
              </c:strCache>
            </c:strRef>
          </c:tx>
          <c:spPr>
            <a:solidFill>
              <a:srgbClr val="9DB4C0"/>
            </a:solidFill>
            <a:effectLst/>
          </c:spPr>
          <c:invertIfNegative val="0"/>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DB4C0"/>
              </a:solidFill>
              <a:effectLst/>
            </c:spPr>
          </c:dPt>
          <c:dPt>
            <c:idx val="1"/>
            <c:invertIfNegative val="0"/>
            <c:bubble3D val="0"/>
            <c:spPr>
              <a:solidFill>
                <a:srgbClr val="5C8EA8"/>
              </a:solidFill>
              <a:effectLst/>
            </c:spPr>
          </c:dPt>
          <c:dPt>
            <c:idx val="2"/>
            <c:invertIfNegative val="0"/>
            <c:bubble3D val="0"/>
            <c:spPr>
              <a:solidFill>
                <a:srgbClr val="5C8EA8"/>
              </a:solidFill>
              <a:effectLst/>
            </c:spPr>
          </c:dPt>
          <c:dPt>
            <c:idx val="3"/>
            <c:invertIfNegative val="0"/>
            <c:bubble3D val="0"/>
            <c:spPr>
              <a:solidFill>
                <a:srgbClr val="0E9F8E"/>
              </a:solidFill>
              <a:effectLst/>
            </c:spPr>
          </c:dPt>
          <c:cat>
            <c:multiLvlStrRef>
              <c:f>Sheet1!$A$2:$A$5</c:f>
              <c:multiLvlStrCache>
                <c:ptCount val="4"/>
                <c:lvl>
                  <c:pt idx="0">
                    <c:v>CGM (&lt;1 h)</c:v>
                  </c:pt>
                  <c:pt idx="1">
                    <c:v>CGM + wearables</c:v>
                  </c:pt>
                  <c:pt idx="2">
                    <c:v>CGM + EHR</c:v>
                  </c:pt>
                  <c:pt idx="3">
                    <c:v>Full fusion</c:v>
                  </c:pt>
                </c:lvl>
              </c:multiLvlStrCache>
            </c:multiLvlStrRef>
          </c:cat>
          <c:val>
            <c:numRef>
              <c:f>Sheet1!$B$2:$B$5</c:f>
              <c:numCache>
                <c:formatCode>General</c:formatCode>
                <c:ptCount val="4"/>
                <c:pt idx="0">
                  <c:v>16.4</c:v>
                </c:pt>
                <c:pt idx="1">
                  <c:v>15.4</c:v>
                </c:pt>
                <c:pt idx="2">
                  <c:v>13.6</c:v>
                </c:pt>
                <c:pt idx="3">
                  <c:v>13.1</c:v>
                </c:pt>
              </c:numCache>
            </c:numRef>
          </c:val>
        </c:ser>
        <c:dLbls>
          <c:numFmt formatCode="0.0" sourceLinked="0"/>
          <c:txPr>
            <a:bodyPr/>
            <a:lstStyle/>
            <a:p>
              <a:pPr>
                <a:defRPr b="0" i="0" strike="noStrike" sz="1200" u="none">
                  <a:solidFill>
                    <a:srgbClr val="14213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4A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one-line pitch. DiaTwin fuses a patient's EHR with live wearable and CGM data, forecasts glucose 30, 60 and 120 minutes ahead, warns before a spike or a low, explains each forecast and lets the doctor simulate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101 million people with diabetes and 136 million with prediabetes in India (ICMR-INDIAB, Lancet Diabetes &amp; Endocrinology, 2023). Care is mostly retrospective. A digital twin makes it proactive.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verbs: fuse, forecast, warn and explain, simulate. Type 2 Diabetes was chosen because it is prevalent in India, glucose is measurable continuously and the two-hour window is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each line of the challenge brief to what we built, so the jury can tick them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Static stream: a synthetic EHR with a Synthea-compatible schema and importer. Dynamic stream: simulated CGM, heart rate, HRV, steps, sleep and a meal diary. Imperfections are modelled on purpose: CGM dropouts and unlogged meals.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AGP is the clinical standard way of showing CGM data: median and percentile bands by time of day. The three meal peaks are visible. Cohort metrics sit in the consensus ranges. We state plainly that it is more benign than real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two streams, the fusion layer, the twin core (a learned layer and a mechanistic layer), and four clinician-facing outputs: alerts, explanations, the what-if planner and the cohort board with data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Reproducible with one command. Twelve evaluation tests, all patient-level so no patient appears in more than one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on 81 held-out patients. Spike onset means glucose is currently at or below 180 and crosses 180 within 2 hours. The band is meant to cover 80% and covers 79%.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Patient-level bootstrap. Fusion beats CGM only by 1.22 mg/dL with a CI that excludes zero: a real but modest gain, because glucose history already reveals the patient's baseline. The next slide shows where the EHR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start: only the last 30 minutes of glucose, no 24-hour statistics and no sleep history. The EHR closes most of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just pick one model. Ridge, extra-trees, an MLP and gradient boosting were compared on identical features. Boosting was chosen for native missing-value handling, speed and quantile support, not because it is uniquely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predicted probabilities match observed frequencies closely, which matters if a clinician is going to read '70% risk' as meaning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weak point. At the default threshold the alert is sensitive but noisy. We expose the whole trade-off table rather than hide it. A deployed system would add snooze logic and per-patient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time is capped by the two-hour look-back. For hypoglycaemia we report the result as it is: with few events from few insulin users, the EHR does not improve AUC over CGM alone, so this is a proof of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dimensions: HbA1c band, medication, age, sex and activity. Performance is fairly even; the weakest groups are still far better than the baseline. Small groups such as the six insulin users are flagged in the repo, not over-read.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devices fail. A plain fusion model collapses when the wearables go offline. Training with random masking of wearables and the meal diary keeps the error at the clean level. The dashboard has a data-quality simulator to show this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ways to check we are not fooling ourselves: an independent cohort with a different age, weight and disease-duration mix, and five-fold cross-validation grouped by patient. Rankings hold; error rises under shift because that population is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by group: CGM 22.1, EHR 4.2, meals 1.3, wearables 0.5 mg/dL. The per-patient explanation neutralises a group to its training median and reports how the forecast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anticipates the shape and timing of meal excursions. Sharp peaks are underestimated, which is a known limitation of any regression-to-the-mean forecaster.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dashboard here. Pick patient P305 (insulin), set the replay slider to 359 and show the hypoglycaemia alert about two hours before glucose falls to the mid-50s. Then flip the data-quality toggles.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supports a clinician and never doses. All data is synthetic. A real deployment needs consent, data minimisation, in-region processing and a regulatory review as software that could influence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recording, replace or extend the left column with specific startups from the ValleyNxt Ventures Tracxn screen: name, what they do, what they do not do. That is the team's strongest differentiator.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absolute numbers are properties of our simulator. The transferable results are the ranking of models, the cold-start effect, the robustness to missing streams and the evaluation methodology.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3.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Circle"/>
          <p:cNvSpPr/>
          <p:nvPr/>
        </p:nvSpPr>
        <p:spPr>
          <a:xfrm>
            <a:off x="640080" y="822960"/>
            <a:ext cx="822960" cy="822960"/>
          </a:xfrm>
          <a:prstGeom prst="ellipse">
            <a:avLst/>
          </a:prstGeom>
          <a:solidFill>
            <a:srgbClr val="0E9F8E"/>
          </a:solidFill>
          <a:ln w="12700">
            <a:solidFill>
              <a:srgbClr val="0E9F8E"/>
            </a:solidFill>
            <a:prstDash val="solid"/>
          </a:ln>
        </p:spPr>
      </p:sp>
      <p:pic>
        <p:nvPicPr>
          <p:cNvPr id="3" name="Icon" descr="preencoded.png">    </p:cNvPr>
          <p:cNvPicPr>
            <a:picLocks noChangeAspect="1"/>
          </p:cNvPicPr>
          <p:nvPr/>
        </p:nvPicPr>
        <p:blipFill>
          <a:blip r:embed="rId1"/>
          <a:stretch>
            <a:fillRect/>
          </a:stretch>
        </p:blipFill>
        <p:spPr>
          <a:xfrm>
            <a:off x="821131" y="1004011"/>
            <a:ext cx="460858" cy="460858"/>
          </a:xfrm>
          <a:prstGeom prst="rect">
            <a:avLst/>
          </a:prstGeom>
        </p:spPr>
      </p:pic>
      <p:sp>
        <p:nvSpPr>
          <p:cNvPr id="4" name="Title"/>
          <p:cNvSpPr txBox="1"/>
          <p:nvPr/>
        </p:nvSpPr>
        <p:spPr>
          <a:xfrm>
            <a:off x="640080" y="1828800"/>
            <a:ext cx="7863840" cy="91440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DiaTwin</a:t>
            </a:r>
            <a:endParaRPr lang="en-US" sz="6000" dirty="0"/>
          </a:p>
        </p:txBody>
      </p:sp>
      <p:sp>
        <p:nvSpPr>
          <p:cNvPr id="5" name="Text 2"/>
          <p:cNvSpPr txBox="1"/>
          <p:nvPr/>
        </p:nvSpPr>
        <p:spPr>
          <a:xfrm>
            <a:off x="640080" y="2788920"/>
            <a:ext cx="7132320" cy="1005840"/>
          </a:xfrm>
          <a:prstGeom prst="rect">
            <a:avLst/>
          </a:prstGeom>
          <a:noFill/>
          <a:ln/>
        </p:spPr>
        <p:txBody>
          <a:bodyPr wrap="square" lIns="0" tIns="0" rIns="0" bIns="0" rtlCol="0" anchor="t"/>
          <a:lstStyle/>
          <a:p>
            <a:pPr indent="0" marL="0">
              <a:buNone/>
            </a:pPr>
            <a:r>
              <a:rPr lang="en-US" sz="2000" dirty="0">
                <a:solidFill>
                  <a:srgbClr val="CFE9E6"/>
                </a:solidFill>
                <a:latin typeface="Calibri" pitchFamily="34" charset="0"/>
                <a:ea typeface="Calibri" pitchFamily="34" charset="-122"/>
                <a:cs typeface="Calibri" pitchFamily="34" charset="-120"/>
              </a:rPr>
              <a:t>A digital twin for Type 2 Diabetes that forecasts glucose, warns before spikes and lows, explains why, and simulates what-if choices</a:t>
            </a:r>
            <a:endParaRPr lang="en-US" sz="2000" dirty="0"/>
          </a:p>
        </p:txBody>
      </p:sp>
      <p:sp>
        <p:nvSpPr>
          <p:cNvPr id="6" name="Text 3"/>
          <p:cNvSpPr txBox="1"/>
          <p:nvPr/>
        </p:nvSpPr>
        <p:spPr>
          <a:xfrm>
            <a:off x="640080" y="4343400"/>
            <a:ext cx="7863840" cy="365760"/>
          </a:xfrm>
          <a:prstGeom prst="rect">
            <a:avLst/>
          </a:prstGeom>
          <a:noFill/>
          <a:ln/>
        </p:spPr>
        <p:txBody>
          <a:bodyPr wrap="square" lIns="0" tIns="0" rIns="0" bIns="0" rtlCol="0" anchor="t"/>
          <a:lstStyle/>
          <a:p>
            <a:pPr indent="0" marL="0">
              <a:buNone/>
            </a:pPr>
            <a:r>
              <a:rPr lang="en-US" sz="1200" dirty="0">
                <a:solidFill>
                  <a:srgbClr val="9DB4C0"/>
                </a:solidFill>
                <a:latin typeface="Calibri" pitchFamily="34" charset="0"/>
                <a:ea typeface="Calibri" pitchFamily="34" charset="-122"/>
                <a:cs typeface="Calibri" pitchFamily="34" charset="-120"/>
              </a:rPr>
              <a:t>Digital Twin Challenge 2026  |  Happiest Health  |  Team leader: Shivansh Porwal, IMT Ghaziabad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Diabetes care is reactive</a:t>
            </a:r>
            <a:endParaRPr lang="en-US" sz="3200" dirty="0"/>
          </a:p>
        </p:txBody>
      </p:sp>
      <p:sp>
        <p:nvSpPr>
          <p:cNvPr id="3" name="Stat0"/>
          <p:cNvSpPr txBox="1"/>
          <p:nvPr/>
        </p:nvSpPr>
        <p:spPr>
          <a:xfrm>
            <a:off x="457200" y="1188720"/>
            <a:ext cx="2377440" cy="822960"/>
          </a:xfrm>
          <a:prstGeom prst="rect">
            <a:avLst/>
          </a:prstGeom>
          <a:noFill/>
          <a:ln/>
        </p:spPr>
        <p:txBody>
          <a:bodyPr wrap="square" lIns="0" tIns="0" rIns="0" bIns="0" rtlCol="0" anchor="ctr"/>
          <a:lstStyle/>
          <a:p>
            <a:pPr indent="0" marL="0">
              <a:buNone/>
            </a:pPr>
            <a:r>
              <a:rPr lang="en-US" sz="4800" b="1" dirty="0">
                <a:solidFill>
                  <a:srgbClr val="0E9F8E"/>
                </a:solidFill>
                <a:latin typeface="Cambria" pitchFamily="34" charset="0"/>
                <a:ea typeface="Cambria" pitchFamily="34" charset="-122"/>
                <a:cs typeface="Cambria" pitchFamily="34" charset="-120"/>
              </a:rPr>
              <a:t>101M</a:t>
            </a:r>
            <a:endParaRPr lang="en-US" sz="4800" dirty="0"/>
          </a:p>
        </p:txBody>
      </p:sp>
      <p:sp>
        <p:nvSpPr>
          <p:cNvPr id="4" name="Text 2"/>
          <p:cNvSpPr txBox="1"/>
          <p:nvPr/>
        </p:nvSpPr>
        <p:spPr>
          <a:xfrm>
            <a:off x="2834640" y="1188720"/>
            <a:ext cx="2011680" cy="8229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Indians living with diabetes</a:t>
            </a:r>
            <a:endParaRPr lang="en-US" sz="1400" dirty="0"/>
          </a:p>
        </p:txBody>
      </p:sp>
      <p:sp>
        <p:nvSpPr>
          <p:cNvPr id="5" name="Stat1"/>
          <p:cNvSpPr txBox="1"/>
          <p:nvPr/>
        </p:nvSpPr>
        <p:spPr>
          <a:xfrm>
            <a:off x="457200" y="2286000"/>
            <a:ext cx="2377440" cy="822960"/>
          </a:xfrm>
          <a:prstGeom prst="rect">
            <a:avLst/>
          </a:prstGeom>
          <a:noFill/>
          <a:ln/>
        </p:spPr>
        <p:txBody>
          <a:bodyPr wrap="square" lIns="0" tIns="0" rIns="0" bIns="0" rtlCol="0" anchor="ctr"/>
          <a:lstStyle/>
          <a:p>
            <a:pPr indent="0" marL="0">
              <a:buNone/>
            </a:pPr>
            <a:r>
              <a:rPr lang="en-US" sz="4800" b="1" dirty="0">
                <a:solidFill>
                  <a:srgbClr val="0E9F8E"/>
                </a:solidFill>
                <a:latin typeface="Cambria" pitchFamily="34" charset="0"/>
                <a:ea typeface="Cambria" pitchFamily="34" charset="-122"/>
                <a:cs typeface="Cambria" pitchFamily="34" charset="-120"/>
              </a:rPr>
              <a:t>136M</a:t>
            </a:r>
            <a:endParaRPr lang="en-US" sz="4800" dirty="0"/>
          </a:p>
        </p:txBody>
      </p:sp>
      <p:sp>
        <p:nvSpPr>
          <p:cNvPr id="6" name="Text 4"/>
          <p:cNvSpPr txBox="1"/>
          <p:nvPr/>
        </p:nvSpPr>
        <p:spPr>
          <a:xfrm>
            <a:off x="2834640" y="2286000"/>
            <a:ext cx="2011680" cy="8229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more with prediabetes</a:t>
            </a:r>
            <a:endParaRPr lang="en-US" sz="1400" dirty="0"/>
          </a:p>
        </p:txBody>
      </p:sp>
      <p:sp>
        <p:nvSpPr>
          <p:cNvPr id="7" name="Stat2"/>
          <p:cNvSpPr txBox="1"/>
          <p:nvPr/>
        </p:nvSpPr>
        <p:spPr>
          <a:xfrm>
            <a:off x="457200" y="3383280"/>
            <a:ext cx="2377440" cy="822960"/>
          </a:xfrm>
          <a:prstGeom prst="rect">
            <a:avLst/>
          </a:prstGeom>
          <a:noFill/>
          <a:ln/>
        </p:spPr>
        <p:txBody>
          <a:bodyPr wrap="square" lIns="0" tIns="0" rIns="0" bIns="0" rtlCol="0" anchor="ctr"/>
          <a:lstStyle/>
          <a:p>
            <a:pPr indent="0" marL="0">
              <a:buNone/>
            </a:pPr>
            <a:r>
              <a:rPr lang="en-US" sz="4800" b="1" dirty="0">
                <a:solidFill>
                  <a:srgbClr val="0E9F8E"/>
                </a:solidFill>
                <a:latin typeface="Cambria" pitchFamily="34" charset="0"/>
                <a:ea typeface="Cambria" pitchFamily="34" charset="-122"/>
                <a:cs typeface="Cambria" pitchFamily="34" charset="-120"/>
              </a:rPr>
              <a:t>11.4%</a:t>
            </a:r>
            <a:endParaRPr lang="en-US" sz="4800" dirty="0"/>
          </a:p>
        </p:txBody>
      </p:sp>
      <p:sp>
        <p:nvSpPr>
          <p:cNvPr id="8" name="Text 6"/>
          <p:cNvSpPr txBox="1"/>
          <p:nvPr/>
        </p:nvSpPr>
        <p:spPr>
          <a:xfrm>
            <a:off x="2834640" y="3383280"/>
            <a:ext cx="2011680" cy="822960"/>
          </a:xfrm>
          <a:prstGeom prst="rect">
            <a:avLst/>
          </a:prstGeom>
          <a:noFill/>
          <a:ln/>
        </p:spPr>
        <p:txBody>
          <a:bodyPr wrap="square" lIns="0" tIns="0" rIns="0" bIns="0" rtlCol="0" anchor="ctr"/>
          <a:lstStyle/>
          <a:p>
            <a:pPr indent="0" marL="0">
              <a:buNone/>
            </a:pPr>
            <a:r>
              <a:rPr lang="en-US" sz="1400" dirty="0">
                <a:solidFill>
                  <a:schemeClr val="tx1"/>
                </a:solidFill>
                <a:latin typeface="Calibri" pitchFamily="34" charset="0"/>
                <a:ea typeface="Calibri" pitchFamily="34" charset="-122"/>
                <a:cs typeface="Calibri" pitchFamily="34" charset="-120"/>
              </a:rPr>
              <a:t>of the population has diabetes</a:t>
            </a:r>
            <a:endParaRPr lang="en-US" sz="1400" dirty="0"/>
          </a:p>
        </p:txBody>
      </p:sp>
      <p:sp>
        <p:nvSpPr>
          <p:cNvPr id="9" name="Card"/>
          <p:cNvSpPr/>
          <p:nvPr/>
        </p:nvSpPr>
        <p:spPr>
          <a:xfrm>
            <a:off x="5120640" y="1188720"/>
            <a:ext cx="3566160" cy="3200400"/>
          </a:xfrm>
          <a:prstGeom prst="roundRect">
            <a:avLst>
              <a:gd name="adj" fmla="val 3429"/>
            </a:avLst>
          </a:prstGeom>
          <a:solidFill>
            <a:schemeClr val="bg2"/>
          </a:solidFill>
          <a:ln w="12700">
            <a:solidFill>
              <a:schemeClr val="bg2"/>
            </a:solidFill>
            <a:prstDash val="solid"/>
          </a:ln>
        </p:spPr>
      </p:sp>
      <p:sp>
        <p:nvSpPr>
          <p:cNvPr id="10" name="Text 8"/>
          <p:cNvSpPr txBox="1"/>
          <p:nvPr/>
        </p:nvSpPr>
        <p:spPr>
          <a:xfrm>
            <a:off x="5349240" y="1325880"/>
            <a:ext cx="31089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clinicians see today</a:t>
            </a:r>
            <a:endParaRPr lang="en-US" sz="1800" dirty="0"/>
          </a:p>
        </p:txBody>
      </p:sp>
      <p:sp>
        <p:nvSpPr>
          <p:cNvPr id="11" name="Text 9"/>
          <p:cNvSpPr txBox="1"/>
          <p:nvPr/>
        </p:nvSpPr>
        <p:spPr>
          <a:xfrm>
            <a:off x="5349240" y="1783080"/>
            <a:ext cx="310896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Lab values such as HbA1c, reviewed every few months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Occasional glucose readings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 view of what the next two hours hold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Spikes, and lows on insulin or sulfonylureas, go unseen</a:t>
            </a:r>
            <a:endParaRPr lang="en-US" sz="1400" dirty="0"/>
          </a:p>
        </p:txBody>
      </p:sp>
      <p:sp>
        <p:nvSpPr>
          <p:cNvPr id="12" name="Text 10"/>
          <p:cNvSpPr txBox="1"/>
          <p:nvPr/>
        </p:nvSpPr>
        <p:spPr>
          <a:xfrm>
            <a:off x="457200" y="4572000"/>
            <a:ext cx="7863840" cy="27432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Source: ICMR-INDIAB study, The Lancet Diabetes &amp; Endocrinology, 2023</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Meet DiaTwin</a:t>
            </a:r>
            <a:endParaRPr lang="en-US" sz="3200" dirty="0"/>
          </a:p>
        </p:txBody>
      </p:sp>
      <p:sp>
        <p:nvSpPr>
          <p:cNvPr id="3" name="Card"/>
          <p:cNvSpPr/>
          <p:nvPr/>
        </p:nvSpPr>
        <p:spPr>
          <a:xfrm>
            <a:off x="457200" y="1188720"/>
            <a:ext cx="1965960" cy="2926080"/>
          </a:xfrm>
          <a:prstGeom prst="roundRect">
            <a:avLst>
              <a:gd name="adj" fmla="val 5581"/>
            </a:avLst>
          </a:prstGeom>
          <a:solidFill>
            <a:schemeClr val="bg2"/>
          </a:solidFill>
          <a:ln w="12700">
            <a:solidFill>
              <a:schemeClr val="bg2"/>
            </a:solidFill>
            <a:prstDash val="solid"/>
          </a:ln>
        </p:spPr>
      </p:sp>
      <p:sp>
        <p:nvSpPr>
          <p:cNvPr id="4" name="IconCircle"/>
          <p:cNvSpPr/>
          <p:nvPr/>
        </p:nvSpPr>
        <p:spPr>
          <a:xfrm>
            <a:off x="640080" y="1371600"/>
            <a:ext cx="594360" cy="594360"/>
          </a:xfrm>
          <a:prstGeom prst="ellipse">
            <a:avLst/>
          </a:prstGeom>
          <a:solidFill>
            <a:srgbClr val="0E9F8E"/>
          </a:solidFill>
          <a:ln w="12700">
            <a:solidFill>
              <a:srgbClr val="0E9F8E"/>
            </a:solidFill>
            <a:prstDash val="solid"/>
          </a:ln>
        </p:spPr>
      </p:sp>
      <p:pic>
        <p:nvPicPr>
          <p:cNvPr id="5" name="Icon" descr="preencoded.png">    </p:cNvPr>
          <p:cNvPicPr>
            <a:picLocks noChangeAspect="1"/>
          </p:cNvPicPr>
          <p:nvPr/>
        </p:nvPicPr>
        <p:blipFill>
          <a:blip r:embed="rId1"/>
          <a:stretch>
            <a:fillRect/>
          </a:stretch>
        </p:blipFill>
        <p:spPr>
          <a:xfrm>
            <a:off x="770839" y="1502359"/>
            <a:ext cx="332842" cy="332842"/>
          </a:xfrm>
          <a:prstGeom prst="rect">
            <a:avLst/>
          </a:prstGeom>
        </p:spPr>
      </p:pic>
      <p:sp>
        <p:nvSpPr>
          <p:cNvPr id="6" name="Text 3"/>
          <p:cNvSpPr txBox="1"/>
          <p:nvPr/>
        </p:nvSpPr>
        <p:spPr>
          <a:xfrm>
            <a:off x="640080" y="2103120"/>
            <a:ext cx="1645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Fuse</a:t>
            </a:r>
            <a:endParaRPr lang="en-US" sz="2000" dirty="0"/>
          </a:p>
        </p:txBody>
      </p:sp>
      <p:sp>
        <p:nvSpPr>
          <p:cNvPr id="7" name="Text 4"/>
          <p:cNvSpPr txBox="1"/>
          <p:nvPr/>
        </p:nvSpPr>
        <p:spPr>
          <a:xfrm>
            <a:off x="640080" y="2560320"/>
            <a:ext cx="164592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Merge the static EHR with CGM, wearable and meal-diary streams for each patient.</a:t>
            </a:r>
            <a:endParaRPr lang="en-US" sz="1300" dirty="0"/>
          </a:p>
        </p:txBody>
      </p:sp>
      <p:sp>
        <p:nvSpPr>
          <p:cNvPr id="8" name="Card"/>
          <p:cNvSpPr/>
          <p:nvPr/>
        </p:nvSpPr>
        <p:spPr>
          <a:xfrm>
            <a:off x="2560320" y="1188720"/>
            <a:ext cx="1965960" cy="2926080"/>
          </a:xfrm>
          <a:prstGeom prst="roundRect">
            <a:avLst>
              <a:gd name="adj" fmla="val 5581"/>
            </a:avLst>
          </a:prstGeom>
          <a:solidFill>
            <a:schemeClr val="bg2"/>
          </a:solidFill>
          <a:ln w="12700">
            <a:solidFill>
              <a:schemeClr val="bg2"/>
            </a:solidFill>
            <a:prstDash val="solid"/>
          </a:ln>
        </p:spPr>
      </p:sp>
      <p:sp>
        <p:nvSpPr>
          <p:cNvPr id="9" name="IconCircle"/>
          <p:cNvSpPr/>
          <p:nvPr/>
        </p:nvSpPr>
        <p:spPr>
          <a:xfrm>
            <a:off x="2743200" y="1371600"/>
            <a:ext cx="594360" cy="594360"/>
          </a:xfrm>
          <a:prstGeom prst="ellipse">
            <a:avLst/>
          </a:prstGeom>
          <a:solidFill>
            <a:srgbClr val="5C8EA8"/>
          </a:solidFill>
          <a:ln w="12700">
            <a:solidFill>
              <a:srgbClr val="5C8EA8"/>
            </a:solidFill>
            <a:prstDash val="solid"/>
          </a:ln>
        </p:spPr>
      </p:sp>
      <p:pic>
        <p:nvPicPr>
          <p:cNvPr id="10" name="Icon" descr="preencoded.png">    </p:cNvPr>
          <p:cNvPicPr>
            <a:picLocks noChangeAspect="1"/>
          </p:cNvPicPr>
          <p:nvPr/>
        </p:nvPicPr>
        <p:blipFill>
          <a:blip r:embed="rId2"/>
          <a:stretch>
            <a:fillRect/>
          </a:stretch>
        </p:blipFill>
        <p:spPr>
          <a:xfrm>
            <a:off x="2873959" y="1502359"/>
            <a:ext cx="332842" cy="332842"/>
          </a:xfrm>
          <a:prstGeom prst="rect">
            <a:avLst/>
          </a:prstGeom>
        </p:spPr>
      </p:pic>
      <p:sp>
        <p:nvSpPr>
          <p:cNvPr id="11" name="Text 7"/>
          <p:cNvSpPr txBox="1"/>
          <p:nvPr/>
        </p:nvSpPr>
        <p:spPr>
          <a:xfrm>
            <a:off x="2743200" y="2103120"/>
            <a:ext cx="1645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Forecast</a:t>
            </a:r>
            <a:endParaRPr lang="en-US" sz="2000" dirty="0"/>
          </a:p>
        </p:txBody>
      </p:sp>
      <p:sp>
        <p:nvSpPr>
          <p:cNvPr id="12" name="Text 8"/>
          <p:cNvSpPr txBox="1"/>
          <p:nvPr/>
        </p:nvSpPr>
        <p:spPr>
          <a:xfrm>
            <a:off x="2743200" y="2560320"/>
            <a:ext cx="164592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Glucose at +30, +60 and +120 minutes with an 80% uncertainty band.</a:t>
            </a:r>
            <a:endParaRPr lang="en-US" sz="1300" dirty="0"/>
          </a:p>
        </p:txBody>
      </p:sp>
      <p:sp>
        <p:nvSpPr>
          <p:cNvPr id="13" name="Card"/>
          <p:cNvSpPr/>
          <p:nvPr/>
        </p:nvSpPr>
        <p:spPr>
          <a:xfrm>
            <a:off x="4663440" y="1188720"/>
            <a:ext cx="1965960" cy="2926080"/>
          </a:xfrm>
          <a:prstGeom prst="roundRect">
            <a:avLst>
              <a:gd name="adj" fmla="val 5581"/>
            </a:avLst>
          </a:prstGeom>
          <a:solidFill>
            <a:schemeClr val="bg2"/>
          </a:solidFill>
          <a:ln w="12700">
            <a:solidFill>
              <a:schemeClr val="bg2"/>
            </a:solidFill>
            <a:prstDash val="solid"/>
          </a:ln>
        </p:spPr>
      </p:sp>
      <p:sp>
        <p:nvSpPr>
          <p:cNvPr id="14" name="IconCircle"/>
          <p:cNvSpPr/>
          <p:nvPr/>
        </p:nvSpPr>
        <p:spPr>
          <a:xfrm>
            <a:off x="4846320" y="1371600"/>
            <a:ext cx="594360" cy="594360"/>
          </a:xfrm>
          <a:prstGeom prst="ellipse">
            <a:avLst/>
          </a:prstGeom>
          <a:solidFill>
            <a:srgbClr val="F2A541"/>
          </a:solidFill>
          <a:ln w="12700">
            <a:solidFill>
              <a:srgbClr val="F2A541"/>
            </a:solidFill>
            <a:prstDash val="solid"/>
          </a:ln>
        </p:spPr>
      </p:sp>
      <p:pic>
        <p:nvPicPr>
          <p:cNvPr id="15" name="Icon" descr="preencoded.png">    </p:cNvPr>
          <p:cNvPicPr>
            <a:picLocks noChangeAspect="1"/>
          </p:cNvPicPr>
          <p:nvPr/>
        </p:nvPicPr>
        <p:blipFill>
          <a:blip r:embed="rId3"/>
          <a:stretch>
            <a:fillRect/>
          </a:stretch>
        </p:blipFill>
        <p:spPr>
          <a:xfrm>
            <a:off x="4977079" y="1502359"/>
            <a:ext cx="332842" cy="332842"/>
          </a:xfrm>
          <a:prstGeom prst="rect">
            <a:avLst/>
          </a:prstGeom>
        </p:spPr>
      </p:pic>
      <p:sp>
        <p:nvSpPr>
          <p:cNvPr id="16" name="Text 11"/>
          <p:cNvSpPr txBox="1"/>
          <p:nvPr/>
        </p:nvSpPr>
        <p:spPr>
          <a:xfrm>
            <a:off x="4846320" y="2103120"/>
            <a:ext cx="1645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Warn</a:t>
            </a:r>
            <a:endParaRPr lang="en-US" sz="2000" dirty="0"/>
          </a:p>
        </p:txBody>
      </p:sp>
      <p:sp>
        <p:nvSpPr>
          <p:cNvPr id="17" name="Text 12"/>
          <p:cNvSpPr txBox="1"/>
          <p:nvPr/>
        </p:nvSpPr>
        <p:spPr>
          <a:xfrm>
            <a:off x="4846320" y="2560320"/>
            <a:ext cx="164592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Hyper and hypo alerts, with a why-this-forecast panel for the doctor.</a:t>
            </a:r>
            <a:endParaRPr lang="en-US" sz="1300" dirty="0"/>
          </a:p>
        </p:txBody>
      </p:sp>
      <p:sp>
        <p:nvSpPr>
          <p:cNvPr id="18" name="Card"/>
          <p:cNvSpPr/>
          <p:nvPr/>
        </p:nvSpPr>
        <p:spPr>
          <a:xfrm>
            <a:off x="6766560" y="1188720"/>
            <a:ext cx="1965960" cy="2926080"/>
          </a:xfrm>
          <a:prstGeom prst="roundRect">
            <a:avLst>
              <a:gd name="adj" fmla="val 5581"/>
            </a:avLst>
          </a:prstGeom>
          <a:solidFill>
            <a:schemeClr val="bg2"/>
          </a:solidFill>
          <a:ln w="12700">
            <a:solidFill>
              <a:schemeClr val="bg2"/>
            </a:solidFill>
            <a:prstDash val="solid"/>
          </a:ln>
        </p:spPr>
      </p:sp>
      <p:sp>
        <p:nvSpPr>
          <p:cNvPr id="19" name="IconCircle"/>
          <p:cNvSpPr/>
          <p:nvPr/>
        </p:nvSpPr>
        <p:spPr>
          <a:xfrm>
            <a:off x="6949440" y="1371600"/>
            <a:ext cx="594360" cy="594360"/>
          </a:xfrm>
          <a:prstGeom prst="ellipse">
            <a:avLst/>
          </a:prstGeom>
          <a:solidFill>
            <a:srgbClr val="E4572E"/>
          </a:solidFill>
          <a:ln w="12700">
            <a:solidFill>
              <a:srgbClr val="E4572E"/>
            </a:solidFill>
            <a:prstDash val="solid"/>
          </a:ln>
        </p:spPr>
      </p:sp>
      <p:pic>
        <p:nvPicPr>
          <p:cNvPr id="20" name="Icon" descr="preencoded.png">    </p:cNvPr>
          <p:cNvPicPr>
            <a:picLocks noChangeAspect="1"/>
          </p:cNvPicPr>
          <p:nvPr/>
        </p:nvPicPr>
        <p:blipFill>
          <a:blip r:embed="rId4"/>
          <a:stretch>
            <a:fillRect/>
          </a:stretch>
        </p:blipFill>
        <p:spPr>
          <a:xfrm>
            <a:off x="7080199" y="1502359"/>
            <a:ext cx="332842" cy="332842"/>
          </a:xfrm>
          <a:prstGeom prst="rect">
            <a:avLst/>
          </a:prstGeom>
        </p:spPr>
      </p:pic>
      <p:sp>
        <p:nvSpPr>
          <p:cNvPr id="21" name="Text 15"/>
          <p:cNvSpPr txBox="1"/>
          <p:nvPr/>
        </p:nvSpPr>
        <p:spPr>
          <a:xfrm>
            <a:off x="6949440" y="2103120"/>
            <a:ext cx="16459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Simulate</a:t>
            </a:r>
            <a:endParaRPr lang="en-US" sz="2000" dirty="0"/>
          </a:p>
        </p:txBody>
      </p:sp>
      <p:sp>
        <p:nvSpPr>
          <p:cNvPr id="22" name="Text 16"/>
          <p:cNvSpPr txBox="1"/>
          <p:nvPr/>
        </p:nvSpPr>
        <p:spPr>
          <a:xfrm>
            <a:off x="6949440" y="2560320"/>
            <a:ext cx="1645920" cy="14630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What if I eat, halve the meal, walk or skip? See the curve first.</a:t>
            </a:r>
            <a:endParaRPr lang="en-US" sz="1300" dirty="0"/>
          </a:p>
        </p:txBody>
      </p:sp>
      <p:sp>
        <p:nvSpPr>
          <p:cNvPr id="23" name="Text 17"/>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400" i="1" dirty="0">
                <a:solidFill>
                  <a:srgbClr val="5C8EA8"/>
                </a:solidFill>
                <a:latin typeface="Calibri" pitchFamily="34" charset="0"/>
                <a:ea typeface="Calibri" pitchFamily="34" charset="-122"/>
                <a:cs typeface="Calibri" pitchFamily="34" charset="-120"/>
              </a:rPr>
              <a:t>Scope: one condition, Type 2 Diabetes, as the challenge requires. A proof of concept on synthetic data.</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Built to the challenge brief</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3291840"/>
                <a:gridCol w="49377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Challenge requirement</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How DiaTwin meets it</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r>
              <a:tr h="475488">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Fuse static EHR with dynamic real-time data</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Synthetic EHR + simulated CGM, heart rate, HRV, steps, sleep and meal diary: 43 fused features</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Algorithmic model that predicts an adverse event</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2-hour glucose forecast, spike-onset and hypoglycaemia alerts, with uncertainty</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r h="475488">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Conceptual UI dashboard for a doctor</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Working Streamlit app: twin view, cohort board, what-if planner, explanations</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Anonymised, open-source or synthetic data only</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100% synthetic; Synthea-compatible importer; DPDP Act and HIPAA safe</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r h="475488">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Public GitHub repo with full README</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README with every required item, MIT licence, tests, CI, Docker</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475488">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Demo video, architecture diagram, presentation</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20-minute script, 2-page architecture PDF, this deck</a:t>
                      </a:r>
                      <a:endParaRPr lang="en-US" sz="1200" dirty="0">
                        <a:latin typeface="Calibri" charset="0"/>
                        <a:ea typeface="Calibri" charset="0"/>
                        <a:cs typeface="Calibri" charset="0"/>
                      </a:endParaRPr>
                    </a:p>
                  </a:txBody>
                  <a:tcPr marL="91440" marR="91440" marT="36576" marB="36576"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bl>
          </a:graphicData>
        </a:graphic>
      </p:graphicFrame>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Two data streams, one patient</a:t>
            </a:r>
            <a:endParaRPr lang="en-US" sz="3200" dirty="0"/>
          </a:p>
        </p:txBody>
      </p:sp>
      <p:sp>
        <p:nvSpPr>
          <p:cNvPr id="3" name="Card"/>
          <p:cNvSpPr/>
          <p:nvPr/>
        </p:nvSpPr>
        <p:spPr>
          <a:xfrm>
            <a:off x="457200" y="1143000"/>
            <a:ext cx="4023360" cy="2103120"/>
          </a:xfrm>
          <a:prstGeom prst="roundRect">
            <a:avLst>
              <a:gd name="adj" fmla="val 5217"/>
            </a:avLst>
          </a:prstGeom>
          <a:solidFill>
            <a:schemeClr val="bg2"/>
          </a:solidFill>
          <a:ln w="12700">
            <a:solidFill>
              <a:schemeClr val="bg2"/>
            </a:solidFill>
            <a:prstDash val="solid"/>
          </a:ln>
        </p:spPr>
      </p:sp>
      <p:sp>
        <p:nvSpPr>
          <p:cNvPr id="4" name="IconCircle"/>
          <p:cNvSpPr/>
          <p:nvPr/>
        </p:nvSpPr>
        <p:spPr>
          <a:xfrm>
            <a:off x="640080" y="1280160"/>
            <a:ext cx="502920" cy="502920"/>
          </a:xfrm>
          <a:prstGeom prst="ellipse">
            <a:avLst/>
          </a:prstGeom>
          <a:solidFill>
            <a:srgbClr val="5C8EA8"/>
          </a:solidFill>
          <a:ln w="12700">
            <a:solidFill>
              <a:srgbClr val="5C8EA8"/>
            </a:solidFill>
            <a:prstDash val="solid"/>
          </a:ln>
        </p:spPr>
      </p:sp>
      <p:pic>
        <p:nvPicPr>
          <p:cNvPr id="5" name="Icon" descr="preencoded.png">    </p:cNvPr>
          <p:cNvPicPr>
            <a:picLocks noChangeAspect="1"/>
          </p:cNvPicPr>
          <p:nvPr/>
        </p:nvPicPr>
        <p:blipFill>
          <a:blip r:embed="rId1"/>
          <a:stretch>
            <a:fillRect/>
          </a:stretch>
        </p:blipFill>
        <p:spPr>
          <a:xfrm>
            <a:off x="750722" y="1390802"/>
            <a:ext cx="281635" cy="281635"/>
          </a:xfrm>
          <a:prstGeom prst="rect">
            <a:avLst/>
          </a:prstGeom>
        </p:spPr>
      </p:pic>
      <p:sp>
        <p:nvSpPr>
          <p:cNvPr id="6" name="Text 3"/>
          <p:cNvSpPr txBox="1"/>
          <p:nvPr/>
        </p:nvSpPr>
        <p:spPr>
          <a:xfrm>
            <a:off x="1280160" y="1280160"/>
            <a:ext cx="310896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Static: simulated EHR</a:t>
            </a:r>
            <a:endParaRPr lang="en-US" sz="1800" dirty="0"/>
          </a:p>
        </p:txBody>
      </p:sp>
      <p:sp>
        <p:nvSpPr>
          <p:cNvPr id="7" name="Text 4"/>
          <p:cNvSpPr txBox="1"/>
          <p:nvPr/>
        </p:nvSpPr>
        <p:spPr>
          <a:xfrm>
            <a:off x="640080" y="1874520"/>
            <a:ext cx="365760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Demographics, BMI, disease duration</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HbA1c, fasting glucose, eGFR, LDL</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TCF7L2 genetic risk marker</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Medication, comorbidities, lifestyle</a:t>
            </a:r>
            <a:endParaRPr lang="en-US" sz="1400" dirty="0"/>
          </a:p>
        </p:txBody>
      </p:sp>
      <p:sp>
        <p:nvSpPr>
          <p:cNvPr id="8" name="Card"/>
          <p:cNvSpPr/>
          <p:nvPr/>
        </p:nvSpPr>
        <p:spPr>
          <a:xfrm>
            <a:off x="4663440" y="1143000"/>
            <a:ext cx="4023360" cy="2103120"/>
          </a:xfrm>
          <a:prstGeom prst="roundRect">
            <a:avLst>
              <a:gd name="adj" fmla="val 5217"/>
            </a:avLst>
          </a:prstGeom>
          <a:solidFill>
            <a:schemeClr val="bg2"/>
          </a:solidFill>
          <a:ln w="12700">
            <a:solidFill>
              <a:schemeClr val="bg2"/>
            </a:solidFill>
            <a:prstDash val="solid"/>
          </a:ln>
        </p:spPr>
      </p:sp>
      <p:sp>
        <p:nvSpPr>
          <p:cNvPr id="9" name="IconCircle"/>
          <p:cNvSpPr/>
          <p:nvPr/>
        </p:nvSpPr>
        <p:spPr>
          <a:xfrm>
            <a:off x="4846320" y="1280160"/>
            <a:ext cx="502920" cy="502920"/>
          </a:xfrm>
          <a:prstGeom prst="ellipse">
            <a:avLst/>
          </a:prstGeom>
          <a:solidFill>
            <a:srgbClr val="0E9F8E"/>
          </a:solidFill>
          <a:ln w="12700">
            <a:solidFill>
              <a:srgbClr val="0E9F8E"/>
            </a:solidFill>
            <a:prstDash val="solid"/>
          </a:ln>
        </p:spPr>
      </p:sp>
      <p:pic>
        <p:nvPicPr>
          <p:cNvPr id="10" name="Icon" descr="preencoded.png">    </p:cNvPr>
          <p:cNvPicPr>
            <a:picLocks noChangeAspect="1"/>
          </p:cNvPicPr>
          <p:nvPr/>
        </p:nvPicPr>
        <p:blipFill>
          <a:blip r:embed="rId2"/>
          <a:stretch>
            <a:fillRect/>
          </a:stretch>
        </p:blipFill>
        <p:spPr>
          <a:xfrm>
            <a:off x="4956962" y="1390802"/>
            <a:ext cx="281635" cy="281635"/>
          </a:xfrm>
          <a:prstGeom prst="rect">
            <a:avLst/>
          </a:prstGeom>
        </p:spPr>
      </p:pic>
      <p:sp>
        <p:nvSpPr>
          <p:cNvPr id="11" name="Text 7"/>
          <p:cNvSpPr txBox="1"/>
          <p:nvPr/>
        </p:nvSpPr>
        <p:spPr>
          <a:xfrm>
            <a:off x="5486400" y="1280160"/>
            <a:ext cx="3108960" cy="50292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Dynamic: wearables</a:t>
            </a:r>
            <a:endParaRPr lang="en-US" sz="1800" dirty="0"/>
          </a:p>
        </p:txBody>
      </p:sp>
      <p:sp>
        <p:nvSpPr>
          <p:cNvPr id="12" name="Text 8"/>
          <p:cNvSpPr txBox="1"/>
          <p:nvPr/>
        </p:nvSpPr>
        <p:spPr>
          <a:xfrm>
            <a:off x="4846320" y="1874520"/>
            <a:ext cx="3657600" cy="1325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CGM glucose every 5 min, with dropouts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Heart rate, HRV, steps, sleep stages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Meal diary, only 85% logged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Medication effects: dosing, skipped meals</a:t>
            </a:r>
            <a:endParaRPr lang="en-US" sz="1400" dirty="0"/>
          </a:p>
        </p:txBody>
      </p:sp>
      <p:sp>
        <p:nvSpPr>
          <p:cNvPr id="13" name="Text 9"/>
          <p:cNvSpPr txBox="1"/>
          <p:nvPr/>
        </p:nvSpPr>
        <p:spPr>
          <a:xfrm>
            <a:off x="457200" y="3429000"/>
            <a:ext cx="1920240" cy="548640"/>
          </a:xfrm>
          <a:prstGeom prst="rect">
            <a:avLst/>
          </a:prstGeom>
          <a:noFill/>
          <a:ln/>
        </p:spPr>
        <p:txBody>
          <a:bodyPr wrap="square" lIns="0" tIns="0" rIns="0" bIns="0" rtlCol="0" anchor="ctr"/>
          <a:lstStyle/>
          <a:p>
            <a:pPr indent="0" marL="0">
              <a:buNone/>
            </a:pPr>
            <a:r>
              <a:rPr lang="en-US" sz="3200" b="1" dirty="0">
                <a:solidFill>
                  <a:srgbClr val="0E9F8E"/>
                </a:solidFill>
                <a:latin typeface="Cambria" pitchFamily="34" charset="0"/>
                <a:ea typeface="Cambria" pitchFamily="34" charset="-122"/>
                <a:cs typeface="Cambria" pitchFamily="34" charset="-120"/>
              </a:rPr>
              <a:t>400</a:t>
            </a:r>
            <a:endParaRPr lang="en-US" sz="3200" dirty="0"/>
          </a:p>
        </p:txBody>
      </p:sp>
      <p:sp>
        <p:nvSpPr>
          <p:cNvPr id="14" name="Text 10"/>
          <p:cNvSpPr txBox="1"/>
          <p:nvPr/>
        </p:nvSpPr>
        <p:spPr>
          <a:xfrm>
            <a:off x="457200" y="3977640"/>
            <a:ext cx="192024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virtual patients</a:t>
            </a:r>
            <a:endParaRPr lang="en-US" sz="1400" dirty="0"/>
          </a:p>
        </p:txBody>
      </p:sp>
      <p:sp>
        <p:nvSpPr>
          <p:cNvPr id="15" name="Text 11"/>
          <p:cNvSpPr txBox="1"/>
          <p:nvPr/>
        </p:nvSpPr>
        <p:spPr>
          <a:xfrm>
            <a:off x="2542032" y="3429000"/>
            <a:ext cx="1920240" cy="548640"/>
          </a:xfrm>
          <a:prstGeom prst="rect">
            <a:avLst/>
          </a:prstGeom>
          <a:noFill/>
          <a:ln/>
        </p:spPr>
        <p:txBody>
          <a:bodyPr wrap="square" lIns="0" tIns="0" rIns="0" bIns="0" rtlCol="0" anchor="ctr"/>
          <a:lstStyle/>
          <a:p>
            <a:pPr indent="0" marL="0">
              <a:buNone/>
            </a:pPr>
            <a:r>
              <a:rPr lang="en-US" sz="3200" b="1" dirty="0">
                <a:solidFill>
                  <a:srgbClr val="0E9F8E"/>
                </a:solidFill>
                <a:latin typeface="Cambria" pitchFamily="34" charset="0"/>
                <a:ea typeface="Cambria" pitchFamily="34" charset="-122"/>
                <a:cs typeface="Cambria" pitchFamily="34" charset="-120"/>
              </a:rPr>
              <a:t>14</a:t>
            </a:r>
            <a:endParaRPr lang="en-US" sz="3200" dirty="0"/>
          </a:p>
        </p:txBody>
      </p:sp>
      <p:sp>
        <p:nvSpPr>
          <p:cNvPr id="16" name="Text 12"/>
          <p:cNvSpPr txBox="1"/>
          <p:nvPr/>
        </p:nvSpPr>
        <p:spPr>
          <a:xfrm>
            <a:off x="2542032" y="3977640"/>
            <a:ext cx="192024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days each</a:t>
            </a:r>
            <a:endParaRPr lang="en-US" sz="1400" dirty="0"/>
          </a:p>
        </p:txBody>
      </p:sp>
      <p:sp>
        <p:nvSpPr>
          <p:cNvPr id="17" name="Text 13"/>
          <p:cNvSpPr txBox="1"/>
          <p:nvPr/>
        </p:nvSpPr>
        <p:spPr>
          <a:xfrm>
            <a:off x="4626864" y="3429000"/>
            <a:ext cx="1920240" cy="548640"/>
          </a:xfrm>
          <a:prstGeom prst="rect">
            <a:avLst/>
          </a:prstGeom>
          <a:noFill/>
          <a:ln/>
        </p:spPr>
        <p:txBody>
          <a:bodyPr wrap="square" lIns="0" tIns="0" rIns="0" bIns="0" rtlCol="0" anchor="ctr"/>
          <a:lstStyle/>
          <a:p>
            <a:pPr indent="0" marL="0">
              <a:buNone/>
            </a:pPr>
            <a:r>
              <a:rPr lang="en-US" sz="3200" b="1" dirty="0">
                <a:solidFill>
                  <a:srgbClr val="0E9F8E"/>
                </a:solidFill>
                <a:latin typeface="Cambria" pitchFamily="34" charset="0"/>
                <a:ea typeface="Cambria" pitchFamily="34" charset="-122"/>
                <a:cs typeface="Cambria" pitchFamily="34" charset="-120"/>
              </a:rPr>
              <a:t>1.6M</a:t>
            </a:r>
            <a:endParaRPr lang="en-US" sz="3200" dirty="0"/>
          </a:p>
        </p:txBody>
      </p:sp>
      <p:sp>
        <p:nvSpPr>
          <p:cNvPr id="18" name="Text 14"/>
          <p:cNvSpPr txBox="1"/>
          <p:nvPr/>
        </p:nvSpPr>
        <p:spPr>
          <a:xfrm>
            <a:off x="4626864" y="3977640"/>
            <a:ext cx="192024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sensor readings</a:t>
            </a:r>
            <a:endParaRPr lang="en-US" sz="1400" dirty="0"/>
          </a:p>
        </p:txBody>
      </p:sp>
      <p:sp>
        <p:nvSpPr>
          <p:cNvPr id="19" name="Text 15"/>
          <p:cNvSpPr txBox="1"/>
          <p:nvPr/>
        </p:nvSpPr>
        <p:spPr>
          <a:xfrm>
            <a:off x="6711696" y="3429000"/>
            <a:ext cx="1920240" cy="548640"/>
          </a:xfrm>
          <a:prstGeom prst="rect">
            <a:avLst/>
          </a:prstGeom>
          <a:noFill/>
          <a:ln/>
        </p:spPr>
        <p:txBody>
          <a:bodyPr wrap="square" lIns="0" tIns="0" rIns="0" bIns="0" rtlCol="0" anchor="ctr"/>
          <a:lstStyle/>
          <a:p>
            <a:pPr indent="0" marL="0">
              <a:buNone/>
            </a:pPr>
            <a:r>
              <a:rPr lang="en-US" sz="3200" b="1" dirty="0">
                <a:solidFill>
                  <a:srgbClr val="0E9F8E"/>
                </a:solidFill>
                <a:latin typeface="Cambria" pitchFamily="34" charset="0"/>
                <a:ea typeface="Cambria" pitchFamily="34" charset="-122"/>
                <a:cs typeface="Cambria" pitchFamily="34" charset="-120"/>
              </a:rPr>
              <a:t>43</a:t>
            </a:r>
            <a:endParaRPr lang="en-US" sz="3200" dirty="0"/>
          </a:p>
        </p:txBody>
      </p:sp>
      <p:sp>
        <p:nvSpPr>
          <p:cNvPr id="20" name="Text 16"/>
          <p:cNvSpPr txBox="1"/>
          <p:nvPr/>
        </p:nvSpPr>
        <p:spPr>
          <a:xfrm>
            <a:off x="6711696" y="3977640"/>
            <a:ext cx="1920240" cy="3200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fused features</a:t>
            </a:r>
            <a:endParaRPr lang="en-US" sz="1400" dirty="0"/>
          </a:p>
        </p:txBody>
      </p:sp>
      <p:sp>
        <p:nvSpPr>
          <p:cNvPr id="21" name="Text 17"/>
          <p:cNvSpPr txBox="1"/>
          <p:nvPr/>
        </p:nvSpPr>
        <p:spPr>
          <a:xfrm>
            <a:off x="457200" y="4572000"/>
            <a:ext cx="7863840" cy="27432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Synthetic only, as the sandbox rules require: DPDP Act and HIPAA safe by construction.</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Is the synthetic data credible?</a:t>
            </a:r>
            <a:endParaRPr lang="en-US" sz="3200" dirty="0"/>
          </a:p>
        </p:txBody>
      </p:sp>
      <p:pic>
        <p:nvPicPr>
          <p:cNvPr id="3" name="AGP" descr="AGP">    </p:cNvPr>
          <p:cNvPicPr>
            <a:picLocks noChangeAspect="1"/>
          </p:cNvPicPr>
          <p:nvPr/>
        </p:nvPicPr>
        <p:blipFill>
          <a:blip r:embed="rId1"/>
          <a:stretch>
            <a:fillRect/>
          </a:stretch>
        </p:blipFill>
        <p:spPr>
          <a:xfrm>
            <a:off x="365760" y="1099969"/>
            <a:ext cx="4846320" cy="2280621"/>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4960" y="1143000"/>
          <a:ext cx="3291840" cy="914400"/>
        </p:xfrm>
        <a:graphic>
          <a:graphicData uri="http://schemas.openxmlformats.org/drawingml/2006/table">
            <a:tbl>
              <a:tblPr/>
              <a:tblGrid>
                <a:gridCol w="1554480"/>
                <a:gridCol w="868680"/>
                <a:gridCol w="8686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Cohort</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Consensus</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r>
              <a:tr h="36576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Time in range 70-180</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86%</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&gt; 70%</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Time above 180</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&lt; 25%</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r h="36576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Time below 70</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0.12%</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&lt; 4%</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GMI</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6.9%</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r h="365760">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CV</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indent="0" marL="0">
                        <a:buNone/>
                      </a:pPr>
                      <a:r>
                        <a:rPr lang="en-US" sz="1200" dirty="0">
                          <a:solidFill>
                            <a:srgbClr val="1B2433"/>
                          </a:solidFill>
                          <a:latin typeface="Calibri" pitchFamily="34" charset="0"/>
                          <a:ea typeface="Calibri" pitchFamily="34" charset="-122"/>
                          <a:cs typeface="Calibri" pitchFamily="34" charset="-120"/>
                        </a:rPr>
                        <a:t>&lt;= 36%</a:t>
                      </a:r>
                      <a:endParaRPr lang="en-US" sz="12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bl>
          </a:graphicData>
        </a:graphic>
      </p:graphicFrame>
      <p:sp>
        <p:nvSpPr>
          <p:cNvPr id="5" name="Card"/>
          <p:cNvSpPr/>
          <p:nvPr/>
        </p:nvSpPr>
        <p:spPr>
          <a:xfrm>
            <a:off x="457200" y="3611880"/>
            <a:ext cx="8229600" cy="914400"/>
          </a:xfrm>
          <a:prstGeom prst="roundRect">
            <a:avLst>
              <a:gd name="adj" fmla="val 12000"/>
            </a:avLst>
          </a:prstGeom>
          <a:solidFill>
            <a:srgbClr val="EEF3F7"/>
          </a:solidFill>
          <a:ln w="12700">
            <a:solidFill>
              <a:srgbClr val="EEF3F7"/>
            </a:solidFill>
            <a:prstDash val="solid"/>
          </a:ln>
        </p:spPr>
      </p:sp>
      <p:sp>
        <p:nvSpPr>
          <p:cNvPr id="6" name="Text 2"/>
          <p:cNvSpPr txBox="1"/>
          <p:nvPr/>
        </p:nvSpPr>
        <p:spPr>
          <a:xfrm>
            <a:off x="640080" y="3703320"/>
            <a:ext cx="7863840" cy="731520"/>
          </a:xfrm>
          <a:prstGeom prst="rect">
            <a:avLst/>
          </a:prstGeom>
          <a:noFill/>
          <a:ln/>
        </p:spPr>
        <p:txBody>
          <a:bodyPr wrap="square" lIns="0" tIns="0" rIns="0" bIns="0" rtlCol="0" anchor="ctr"/>
          <a:lstStyle/>
          <a:p>
            <a:pPr indent="0" marL="0">
              <a:buNone/>
            </a:pPr>
            <a:r>
              <a:rPr lang="en-US" sz="1300" dirty="0">
                <a:solidFill>
                  <a:schemeClr val="tx2"/>
                </a:solidFill>
                <a:latin typeface="Calibri" pitchFamily="34" charset="0"/>
                <a:ea typeface="Calibri" pitchFamily="34" charset="-122"/>
                <a:cs typeface="Calibri" pitchFamily="34" charset="-120"/>
              </a:rPr>
              <a:t>Honest caveat: the cohort is better controlled and less variable than typical real-world Indian Type 2 Diabetes, so absolute errors are optimistic. What transfers: model ranking, cold-start effect, robustness and the evaluation method.</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System architecture</a:t>
            </a:r>
            <a:endParaRPr lang="en-US" sz="3200" dirty="0"/>
          </a:p>
        </p:txBody>
      </p:sp>
      <p:pic>
        <p:nvPicPr>
          <p:cNvPr id="3" name="Architecture diagram" descr="Architecture diagram">    </p:cNvPr>
          <p:cNvPicPr>
            <a:picLocks noChangeAspect="1"/>
          </p:cNvPicPr>
          <p:nvPr/>
        </p:nvPicPr>
        <p:blipFill>
          <a:blip r:embed="rId1"/>
          <a:stretch>
            <a:fillRect/>
          </a:stretch>
        </p:blipFill>
        <p:spPr>
          <a:xfrm>
            <a:off x="1387140" y="1051560"/>
            <a:ext cx="6369719" cy="3611880"/>
          </a:xfrm>
          <a:prstGeom prst="rect">
            <a:avLst/>
          </a:prstGeom>
        </p:spPr>
      </p:pic>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ML pipeline and evaluation</a:t>
            </a:r>
            <a:endParaRPr lang="en-US" sz="3200" dirty="0"/>
          </a:p>
        </p:txBody>
      </p:sp>
      <p:pic>
        <p:nvPicPr>
          <p:cNvPr id="3" name="ML pipeline diagram" descr="ML pipeline diagram">    </p:cNvPr>
          <p:cNvPicPr>
            <a:picLocks noChangeAspect="1"/>
          </p:cNvPicPr>
          <p:nvPr/>
        </p:nvPicPr>
        <p:blipFill>
          <a:blip r:embed="rId1"/>
          <a:stretch>
            <a:fillRect/>
          </a:stretch>
        </p:blipFill>
        <p:spPr>
          <a:xfrm>
            <a:off x="1387140" y="1051560"/>
            <a:ext cx="6369719" cy="3611880"/>
          </a:xfrm>
          <a:prstGeom prst="rect">
            <a:avLst/>
          </a:prstGeom>
        </p:spPr>
      </p:pic>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How the twin predicts</a:t>
            </a:r>
            <a:endParaRPr lang="en-US" sz="3200" dirty="0"/>
          </a:p>
        </p:txBody>
      </p:sp>
      <p:sp>
        <p:nvSpPr>
          <p:cNvPr id="3" name="Card"/>
          <p:cNvSpPr/>
          <p:nvPr/>
        </p:nvSpPr>
        <p:spPr>
          <a:xfrm>
            <a:off x="457200" y="1143000"/>
            <a:ext cx="4023360" cy="1051560"/>
          </a:xfrm>
          <a:prstGeom prst="roundRect">
            <a:avLst>
              <a:gd name="adj" fmla="val 10435"/>
            </a:avLst>
          </a:prstGeom>
          <a:solidFill>
            <a:schemeClr val="bg2"/>
          </a:solidFill>
          <a:ln w="12700">
            <a:solidFill>
              <a:schemeClr val="bg2"/>
            </a:solidFill>
            <a:prstDash val="solid"/>
          </a:ln>
        </p:spPr>
      </p:sp>
      <p:sp>
        <p:nvSpPr>
          <p:cNvPr id="4" name="Text 2"/>
          <p:cNvSpPr txBox="1"/>
          <p:nvPr/>
        </p:nvSpPr>
        <p:spPr>
          <a:xfrm>
            <a:off x="640080" y="1216152"/>
            <a:ext cx="3657600" cy="320040"/>
          </a:xfrm>
          <a:prstGeom prst="rect">
            <a:avLst/>
          </a:prstGeom>
          <a:noFill/>
          <a:ln/>
        </p:spPr>
        <p:txBody>
          <a:bodyPr wrap="square" lIns="0" tIns="0" rIns="0" bIns="0" rtlCol="0" anchor="t"/>
          <a:lstStyle/>
          <a:p>
            <a:pPr indent="0" marL="0">
              <a:buNone/>
            </a:pPr>
            <a:r>
              <a:rPr lang="en-US" sz="1600" b="1" dirty="0">
                <a:solidFill>
                  <a:srgbClr val="0E9F8E"/>
                </a:solidFill>
                <a:latin typeface="Cambria" pitchFamily="34" charset="0"/>
                <a:ea typeface="Cambria" pitchFamily="34" charset="-122"/>
                <a:cs typeface="Cambria" pitchFamily="34" charset="-120"/>
              </a:rPr>
              <a:t>Learned layer</a:t>
            </a:r>
            <a:endParaRPr lang="en-US" sz="1600" dirty="0"/>
          </a:p>
        </p:txBody>
      </p:sp>
      <p:sp>
        <p:nvSpPr>
          <p:cNvPr id="5" name="Text 3"/>
          <p:cNvSpPr txBox="1"/>
          <p:nvPr/>
        </p:nvSpPr>
        <p:spPr>
          <a:xfrm>
            <a:off x="640080" y="1554480"/>
            <a:ext cx="365760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Gradient-boosted trees on 43 fused features: three forecast horizons, 10-90% band, spike and hypo classifiers. Modality-dropout training.</a:t>
            </a:r>
            <a:endParaRPr lang="en-US" sz="1200" dirty="0"/>
          </a:p>
        </p:txBody>
      </p:sp>
      <p:sp>
        <p:nvSpPr>
          <p:cNvPr id="6" name="Card"/>
          <p:cNvSpPr/>
          <p:nvPr/>
        </p:nvSpPr>
        <p:spPr>
          <a:xfrm>
            <a:off x="457200" y="2313432"/>
            <a:ext cx="4023360" cy="1051560"/>
          </a:xfrm>
          <a:prstGeom prst="roundRect">
            <a:avLst>
              <a:gd name="adj" fmla="val 10435"/>
            </a:avLst>
          </a:prstGeom>
          <a:solidFill>
            <a:schemeClr val="bg2"/>
          </a:solidFill>
          <a:ln w="12700">
            <a:solidFill>
              <a:schemeClr val="bg2"/>
            </a:solidFill>
            <a:prstDash val="solid"/>
          </a:ln>
        </p:spPr>
      </p:sp>
      <p:sp>
        <p:nvSpPr>
          <p:cNvPr id="7" name="Text 5"/>
          <p:cNvSpPr txBox="1"/>
          <p:nvPr/>
        </p:nvSpPr>
        <p:spPr>
          <a:xfrm>
            <a:off x="640080" y="2386584"/>
            <a:ext cx="3657600" cy="320040"/>
          </a:xfrm>
          <a:prstGeom prst="rect">
            <a:avLst/>
          </a:prstGeom>
          <a:noFill/>
          <a:ln/>
        </p:spPr>
        <p:txBody>
          <a:bodyPr wrap="square" lIns="0" tIns="0" rIns="0" bIns="0" rtlCol="0" anchor="t"/>
          <a:lstStyle/>
          <a:p>
            <a:pPr indent="0" marL="0">
              <a:buNone/>
            </a:pPr>
            <a:r>
              <a:rPr lang="en-US" sz="1600" b="1" dirty="0">
                <a:solidFill>
                  <a:srgbClr val="F2A541"/>
                </a:solidFill>
                <a:latin typeface="Cambria" pitchFamily="34" charset="0"/>
                <a:ea typeface="Cambria" pitchFamily="34" charset="-122"/>
                <a:cs typeface="Cambria" pitchFamily="34" charset="-120"/>
              </a:rPr>
              <a:t>Mechanistic layer</a:t>
            </a:r>
            <a:endParaRPr lang="en-US" sz="1600" dirty="0"/>
          </a:p>
        </p:txBody>
      </p:sp>
      <p:sp>
        <p:nvSpPr>
          <p:cNvPr id="8" name="Text 6"/>
          <p:cNvSpPr txBox="1"/>
          <p:nvPr/>
        </p:nvSpPr>
        <p:spPr>
          <a:xfrm>
            <a:off x="640080" y="2724912"/>
            <a:ext cx="365760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Personal insulin sensitivity from the EHR drives meal and exercise kernels for what-if scenarios.</a:t>
            </a:r>
            <a:endParaRPr lang="en-US" sz="1200" dirty="0"/>
          </a:p>
        </p:txBody>
      </p:sp>
      <p:sp>
        <p:nvSpPr>
          <p:cNvPr id="9" name="Card"/>
          <p:cNvSpPr/>
          <p:nvPr/>
        </p:nvSpPr>
        <p:spPr>
          <a:xfrm>
            <a:off x="457200" y="3483864"/>
            <a:ext cx="4023360" cy="1051560"/>
          </a:xfrm>
          <a:prstGeom prst="roundRect">
            <a:avLst>
              <a:gd name="adj" fmla="val 10435"/>
            </a:avLst>
          </a:prstGeom>
          <a:solidFill>
            <a:schemeClr val="bg2"/>
          </a:solidFill>
          <a:ln w="12700">
            <a:solidFill>
              <a:schemeClr val="bg2"/>
            </a:solidFill>
            <a:prstDash val="solid"/>
          </a:ln>
        </p:spPr>
      </p:sp>
      <p:sp>
        <p:nvSpPr>
          <p:cNvPr id="10" name="Text 8"/>
          <p:cNvSpPr txBox="1"/>
          <p:nvPr/>
        </p:nvSpPr>
        <p:spPr>
          <a:xfrm>
            <a:off x="640080" y="3557016"/>
            <a:ext cx="3657600" cy="320040"/>
          </a:xfrm>
          <a:prstGeom prst="rect">
            <a:avLst/>
          </a:prstGeom>
          <a:noFill/>
          <a:ln/>
        </p:spPr>
        <p:txBody>
          <a:bodyPr wrap="square" lIns="0" tIns="0" rIns="0" bIns="0" rtlCol="0" anchor="t"/>
          <a:lstStyle/>
          <a:p>
            <a:pPr indent="0" marL="0">
              <a:buNone/>
            </a:pPr>
            <a:r>
              <a:rPr lang="en-US" sz="1600" b="1" dirty="0">
                <a:solidFill>
                  <a:srgbClr val="5C8EA8"/>
                </a:solidFill>
                <a:latin typeface="Cambria" pitchFamily="34" charset="0"/>
                <a:ea typeface="Cambria" pitchFamily="34" charset="-122"/>
                <a:cs typeface="Cambria" pitchFamily="34" charset="-120"/>
              </a:rPr>
              <a:t>Explanation layer</a:t>
            </a:r>
            <a:endParaRPr lang="en-US" sz="1600" dirty="0"/>
          </a:p>
        </p:txBody>
      </p:sp>
      <p:sp>
        <p:nvSpPr>
          <p:cNvPr id="11" name="Text 9"/>
          <p:cNvSpPr txBox="1"/>
          <p:nvPr/>
        </p:nvSpPr>
        <p:spPr>
          <a:xfrm>
            <a:off x="640080" y="3895344"/>
            <a:ext cx="3657600" cy="64008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Neutralise each data group to see how much it moves the forecast.</a:t>
            </a:r>
            <a:endParaRPr lang="en-US" sz="1200" dirty="0"/>
          </a:p>
        </p:txBody>
      </p:sp>
      <p:sp>
        <p:nvSpPr>
          <p:cNvPr id="12" name="Text 10"/>
          <p:cNvSpPr txBox="1"/>
          <p:nvPr/>
        </p:nvSpPr>
        <p:spPr>
          <a:xfrm>
            <a:off x="4754880" y="1143000"/>
            <a:ext cx="192024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12.9</a:t>
            </a:r>
            <a:endParaRPr lang="en-US" sz="3400" dirty="0"/>
          </a:p>
        </p:txBody>
      </p:sp>
      <p:sp>
        <p:nvSpPr>
          <p:cNvPr id="13" name="Text 11"/>
          <p:cNvSpPr txBox="1"/>
          <p:nvPr/>
        </p:nvSpPr>
        <p:spPr>
          <a:xfrm>
            <a:off x="4754880" y="1856232"/>
            <a:ext cx="192024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MAE in mg/dL at 2 h</a:t>
            </a:r>
            <a:endParaRPr lang="en-US" sz="1300" dirty="0"/>
          </a:p>
        </p:txBody>
      </p:sp>
      <p:sp>
        <p:nvSpPr>
          <p:cNvPr id="14" name="Text 12"/>
          <p:cNvSpPr txBox="1"/>
          <p:nvPr/>
        </p:nvSpPr>
        <p:spPr>
          <a:xfrm>
            <a:off x="4754880" y="2148840"/>
            <a:ext cx="192024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persistence 26.5</a:t>
            </a:r>
            <a:endParaRPr lang="en-US" sz="1100" dirty="0"/>
          </a:p>
        </p:txBody>
      </p:sp>
      <p:sp>
        <p:nvSpPr>
          <p:cNvPr id="15" name="Text 13"/>
          <p:cNvSpPr txBox="1"/>
          <p:nvPr/>
        </p:nvSpPr>
        <p:spPr>
          <a:xfrm>
            <a:off x="6858000" y="1143000"/>
            <a:ext cx="192024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0.93</a:t>
            </a:r>
            <a:endParaRPr lang="en-US" sz="3400" dirty="0"/>
          </a:p>
        </p:txBody>
      </p:sp>
      <p:sp>
        <p:nvSpPr>
          <p:cNvPr id="16" name="Text 14"/>
          <p:cNvSpPr txBox="1"/>
          <p:nvPr/>
        </p:nvSpPr>
        <p:spPr>
          <a:xfrm>
            <a:off x="6858000" y="1856232"/>
            <a:ext cx="192024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ROC-AUC, spike alert</a:t>
            </a:r>
            <a:endParaRPr lang="en-US" sz="1300" dirty="0"/>
          </a:p>
        </p:txBody>
      </p:sp>
      <p:sp>
        <p:nvSpPr>
          <p:cNvPr id="17" name="Text 15"/>
          <p:cNvSpPr txBox="1"/>
          <p:nvPr/>
        </p:nvSpPr>
        <p:spPr>
          <a:xfrm>
            <a:off x="6858000" y="2148840"/>
            <a:ext cx="192024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calibration ECE 0.009</a:t>
            </a:r>
            <a:endParaRPr lang="en-US" sz="1100" dirty="0"/>
          </a:p>
        </p:txBody>
      </p:sp>
      <p:sp>
        <p:nvSpPr>
          <p:cNvPr id="18" name="Text 16"/>
          <p:cNvSpPr txBox="1"/>
          <p:nvPr/>
        </p:nvSpPr>
        <p:spPr>
          <a:xfrm>
            <a:off x="4754880" y="2834640"/>
            <a:ext cx="192024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73%</a:t>
            </a:r>
            <a:endParaRPr lang="en-US" sz="3400" dirty="0"/>
          </a:p>
        </p:txBody>
      </p:sp>
      <p:sp>
        <p:nvSpPr>
          <p:cNvPr id="19" name="Text 17"/>
          <p:cNvSpPr txBox="1"/>
          <p:nvPr/>
        </p:nvSpPr>
        <p:spPr>
          <a:xfrm>
            <a:off x="4754880" y="3547872"/>
            <a:ext cx="192024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within 15 mg/dL</a:t>
            </a:r>
            <a:endParaRPr lang="en-US" sz="1300" dirty="0"/>
          </a:p>
        </p:txBody>
      </p:sp>
      <p:sp>
        <p:nvSpPr>
          <p:cNvPr id="20" name="Text 18"/>
          <p:cNvSpPr txBox="1"/>
          <p:nvPr/>
        </p:nvSpPr>
        <p:spPr>
          <a:xfrm>
            <a:off x="4754880" y="3840480"/>
            <a:ext cx="192024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of true glucose</a:t>
            </a:r>
            <a:endParaRPr lang="en-US" sz="1100" dirty="0"/>
          </a:p>
        </p:txBody>
      </p:sp>
      <p:sp>
        <p:nvSpPr>
          <p:cNvPr id="21" name="Text 19"/>
          <p:cNvSpPr txBox="1"/>
          <p:nvPr/>
        </p:nvSpPr>
        <p:spPr>
          <a:xfrm>
            <a:off x="6858000" y="2834640"/>
            <a:ext cx="192024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79%</a:t>
            </a:r>
            <a:endParaRPr lang="en-US" sz="3400" dirty="0"/>
          </a:p>
        </p:txBody>
      </p:sp>
      <p:sp>
        <p:nvSpPr>
          <p:cNvPr id="22" name="Text 20"/>
          <p:cNvSpPr txBox="1"/>
          <p:nvPr/>
        </p:nvSpPr>
        <p:spPr>
          <a:xfrm>
            <a:off x="6858000" y="3547872"/>
            <a:ext cx="192024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band coverage</a:t>
            </a:r>
            <a:endParaRPr lang="en-US" sz="1300" dirty="0"/>
          </a:p>
        </p:txBody>
      </p:sp>
      <p:sp>
        <p:nvSpPr>
          <p:cNvPr id="23" name="Text 21"/>
          <p:cNvSpPr txBox="1"/>
          <p:nvPr/>
        </p:nvSpPr>
        <p:spPr>
          <a:xfrm>
            <a:off x="6858000" y="3840480"/>
            <a:ext cx="192024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nominal 80%</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Does fusion help?</a:t>
            </a:r>
            <a:endParaRPr lang="en-US" sz="3200" dirty="0"/>
          </a:p>
        </p:txBody>
      </p:sp>
      <p:graphicFrame>
        <p:nvGraphicFramePr>
          <p:cNvPr id="3" name="Chart 0" descr=""/>
          <p:cNvGraphicFramePr/>
          <p:nvPr/>
        </p:nvGraphicFramePr>
        <p:xfrm>
          <a:off x="457200" y="1097280"/>
          <a:ext cx="52120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143000"/>
            <a:ext cx="26517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-51%</a:t>
            </a:r>
            <a:endParaRPr lang="en-US" sz="3400" dirty="0"/>
          </a:p>
        </p:txBody>
      </p:sp>
      <p:sp>
        <p:nvSpPr>
          <p:cNvPr id="5" name="Text 2"/>
          <p:cNvSpPr txBox="1"/>
          <p:nvPr/>
        </p:nvSpPr>
        <p:spPr>
          <a:xfrm>
            <a:off x="6035040" y="1856232"/>
            <a:ext cx="26517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error vs persistence</a:t>
            </a:r>
            <a:endParaRPr lang="en-US" sz="1300" dirty="0"/>
          </a:p>
        </p:txBody>
      </p:sp>
      <p:sp>
        <p:nvSpPr>
          <p:cNvPr id="6" name="Text 3"/>
          <p:cNvSpPr txBox="1"/>
          <p:nvPr/>
        </p:nvSpPr>
        <p:spPr>
          <a:xfrm>
            <a:off x="6035040" y="2148840"/>
            <a:ext cx="26517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95% CI 12.4-13.5 mg/dL</a:t>
            </a:r>
            <a:endParaRPr lang="en-US" sz="1100" dirty="0"/>
          </a:p>
        </p:txBody>
      </p:sp>
      <p:sp>
        <p:nvSpPr>
          <p:cNvPr id="7" name="Text 4"/>
          <p:cNvSpPr txBox="1"/>
          <p:nvPr/>
        </p:nvSpPr>
        <p:spPr>
          <a:xfrm>
            <a:off x="6035040" y="2697480"/>
            <a:ext cx="26517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1.22</a:t>
            </a:r>
            <a:endParaRPr lang="en-US" sz="3400" dirty="0"/>
          </a:p>
        </p:txBody>
      </p:sp>
      <p:sp>
        <p:nvSpPr>
          <p:cNvPr id="8" name="Text 5"/>
          <p:cNvSpPr txBox="1"/>
          <p:nvPr/>
        </p:nvSpPr>
        <p:spPr>
          <a:xfrm>
            <a:off x="6035040" y="3410712"/>
            <a:ext cx="26517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mg/dL gain over CGM only</a:t>
            </a:r>
            <a:endParaRPr lang="en-US" sz="1300" dirty="0"/>
          </a:p>
        </p:txBody>
      </p:sp>
      <p:sp>
        <p:nvSpPr>
          <p:cNvPr id="9" name="Text 6"/>
          <p:cNvSpPr txBox="1"/>
          <p:nvPr/>
        </p:nvSpPr>
        <p:spPr>
          <a:xfrm>
            <a:off x="6035040" y="3703320"/>
            <a:ext cx="26517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paired 95% CI 1.02 to 1.43</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cold-start advantage</a:t>
            </a:r>
            <a:endParaRPr lang="en-US" sz="3200" dirty="0"/>
          </a:p>
        </p:txBody>
      </p:sp>
      <p:graphicFrame>
        <p:nvGraphicFramePr>
          <p:cNvPr id="3" name="Chart 0" descr=""/>
          <p:cNvGraphicFramePr/>
          <p:nvPr/>
        </p:nvGraphicFramePr>
        <p:xfrm>
          <a:off x="457200" y="1097280"/>
          <a:ext cx="5212080" cy="3474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035040" y="1143000"/>
            <a:ext cx="26517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-20%</a:t>
            </a:r>
            <a:endParaRPr lang="en-US" sz="3400" dirty="0"/>
          </a:p>
        </p:txBody>
      </p:sp>
      <p:sp>
        <p:nvSpPr>
          <p:cNvPr id="5" name="Text 2"/>
          <p:cNvSpPr txBox="1"/>
          <p:nvPr/>
        </p:nvSpPr>
        <p:spPr>
          <a:xfrm>
            <a:off x="6035040" y="1856232"/>
            <a:ext cx="26517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error for a new patient</a:t>
            </a:r>
            <a:endParaRPr lang="en-US" sz="1300" dirty="0"/>
          </a:p>
        </p:txBody>
      </p:sp>
      <p:sp>
        <p:nvSpPr>
          <p:cNvPr id="6" name="Text 3"/>
          <p:cNvSpPr txBox="1"/>
          <p:nvPr/>
        </p:nvSpPr>
        <p:spPr>
          <a:xfrm>
            <a:off x="6035040" y="2148840"/>
            <a:ext cx="26517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16.4 to 13.1 mg/dL</a:t>
            </a:r>
            <a:endParaRPr lang="en-US" sz="1100" dirty="0"/>
          </a:p>
        </p:txBody>
      </p:sp>
      <p:sp>
        <p:nvSpPr>
          <p:cNvPr id="7" name="Text 4"/>
          <p:cNvSpPr txBox="1"/>
          <p:nvPr/>
        </p:nvSpPr>
        <p:spPr>
          <a:xfrm>
            <a:off x="6035040" y="2697480"/>
            <a:ext cx="2651760" cy="1737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With under an hour of CGM data, the EHR supplies the baseline the sensor cannot yet show. That is what a twin is for: a head start on day one.</a:t>
            </a:r>
            <a:endParaRPr lang="en-US" sz="14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Horizons and model families</a:t>
            </a:r>
            <a:endParaRPr lang="en-US" sz="3200" dirty="0"/>
          </a:p>
        </p:txBody>
      </p:sp>
      <p:pic>
        <p:nvPicPr>
          <p:cNvPr id="3" name="Horizon chart" descr="Horizon chart">    </p:cNvPr>
          <p:cNvPicPr>
            <a:picLocks noChangeAspect="1"/>
          </p:cNvPicPr>
          <p:nvPr/>
        </p:nvPicPr>
        <p:blipFill>
          <a:blip r:embed="rId1"/>
          <a:stretch>
            <a:fillRect/>
          </a:stretch>
        </p:blipFill>
        <p:spPr>
          <a:xfrm>
            <a:off x="365760" y="1266092"/>
            <a:ext cx="4206240" cy="2588455"/>
          </a:xfrm>
          <a:prstGeom prst="rect">
            <a:avLst/>
          </a:prstGeom>
        </p:spPr>
      </p:pic>
      <p:pic>
        <p:nvPicPr>
          <p:cNvPr id="4" name="Model families chart" descr="Model families chart">    </p:cNvPr>
          <p:cNvPicPr>
            <a:picLocks noChangeAspect="1"/>
          </p:cNvPicPr>
          <p:nvPr/>
        </p:nvPicPr>
        <p:blipFill>
          <a:blip r:embed="rId2"/>
          <a:stretch>
            <a:fillRect/>
          </a:stretch>
        </p:blipFill>
        <p:spPr>
          <a:xfrm>
            <a:off x="4572000" y="1494739"/>
            <a:ext cx="4206240" cy="2131162"/>
          </a:xfrm>
          <a:prstGeom prst="rect">
            <a:avLst/>
          </a:prstGeom>
        </p:spPr>
      </p:pic>
      <p:sp>
        <p:nvSpPr>
          <p:cNvPr id="5" name="Text 1"/>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Error at +30 / +60 / +120 min: 5.7 / 10.0 / 12.9 mg/dL. Gradient boosting is the most accurate of four model families (extra-trees 13.2, MLP 13.4); ridge regression is far behind (17.4).</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Alerts you can trust</a:t>
            </a:r>
            <a:endParaRPr lang="en-US" sz="3200" dirty="0"/>
          </a:p>
        </p:txBody>
      </p:sp>
      <p:pic>
        <p:nvPicPr>
          <p:cNvPr id="3" name="Calibration" descr="Calibration">    </p:cNvPr>
          <p:cNvPicPr>
            <a:picLocks noChangeAspect="1"/>
          </p:cNvPicPr>
          <p:nvPr/>
        </p:nvPicPr>
        <p:blipFill>
          <a:blip r:embed="rId1"/>
          <a:stretch>
            <a:fillRect/>
          </a:stretch>
        </p:blipFill>
        <p:spPr>
          <a:xfrm>
            <a:off x="365760" y="1211580"/>
            <a:ext cx="3291840" cy="2880360"/>
          </a:xfrm>
          <a:prstGeom prst="rect">
            <a:avLst/>
          </a:prstGeom>
        </p:spPr>
      </p:pic>
      <p:sp>
        <p:nvSpPr>
          <p:cNvPr id="4" name="Text 1"/>
          <p:cNvSpPr txBox="1"/>
          <p:nvPr/>
        </p:nvSpPr>
        <p:spPr>
          <a:xfrm>
            <a:off x="3931920" y="1143000"/>
            <a:ext cx="21945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0.929</a:t>
            </a:r>
            <a:endParaRPr lang="en-US" sz="3400" dirty="0"/>
          </a:p>
        </p:txBody>
      </p:sp>
      <p:sp>
        <p:nvSpPr>
          <p:cNvPr id="5" name="Text 2"/>
          <p:cNvSpPr txBox="1"/>
          <p:nvPr/>
        </p:nvSpPr>
        <p:spPr>
          <a:xfrm>
            <a:off x="3931920" y="1856232"/>
            <a:ext cx="21945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spike-onset ROC-AUC</a:t>
            </a:r>
            <a:endParaRPr lang="en-US" sz="1300" dirty="0"/>
          </a:p>
        </p:txBody>
      </p:sp>
      <p:sp>
        <p:nvSpPr>
          <p:cNvPr id="6" name="Text 3"/>
          <p:cNvSpPr txBox="1"/>
          <p:nvPr/>
        </p:nvSpPr>
        <p:spPr>
          <a:xfrm>
            <a:off x="3931920" y="2148840"/>
            <a:ext cx="21945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95% CI 0.923-0.937</a:t>
            </a:r>
            <a:endParaRPr lang="en-US" sz="1100" dirty="0"/>
          </a:p>
        </p:txBody>
      </p:sp>
      <p:sp>
        <p:nvSpPr>
          <p:cNvPr id="7" name="Text 4"/>
          <p:cNvSpPr txBox="1"/>
          <p:nvPr/>
        </p:nvSpPr>
        <p:spPr>
          <a:xfrm>
            <a:off x="6309360" y="1143000"/>
            <a:ext cx="21945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0.089</a:t>
            </a:r>
            <a:endParaRPr lang="en-US" sz="3400" dirty="0"/>
          </a:p>
        </p:txBody>
      </p:sp>
      <p:sp>
        <p:nvSpPr>
          <p:cNvPr id="8" name="Text 5"/>
          <p:cNvSpPr txBox="1"/>
          <p:nvPr/>
        </p:nvSpPr>
        <p:spPr>
          <a:xfrm>
            <a:off x="6309360" y="1856232"/>
            <a:ext cx="21945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Brier score</a:t>
            </a:r>
            <a:endParaRPr lang="en-US" sz="1300" dirty="0"/>
          </a:p>
        </p:txBody>
      </p:sp>
      <p:sp>
        <p:nvSpPr>
          <p:cNvPr id="9" name="Text 6"/>
          <p:cNvSpPr txBox="1"/>
          <p:nvPr/>
        </p:nvSpPr>
        <p:spPr>
          <a:xfrm>
            <a:off x="6309360" y="2148840"/>
            <a:ext cx="21945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ECE 0.009</a:t>
            </a:r>
            <a:endParaRPr lang="en-US" sz="1100" dirty="0"/>
          </a:p>
        </p:txBody>
      </p:sp>
      <p:sp>
        <p:nvSpPr>
          <p:cNvPr id="10" name="Text 7"/>
          <p:cNvSpPr txBox="1"/>
          <p:nvPr/>
        </p:nvSpPr>
        <p:spPr>
          <a:xfrm>
            <a:off x="3931920" y="2788920"/>
            <a:ext cx="21945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+0.014</a:t>
            </a:r>
            <a:endParaRPr lang="en-US" sz="3400" dirty="0"/>
          </a:p>
        </p:txBody>
      </p:sp>
      <p:sp>
        <p:nvSpPr>
          <p:cNvPr id="11" name="Text 8"/>
          <p:cNvSpPr txBox="1"/>
          <p:nvPr/>
        </p:nvSpPr>
        <p:spPr>
          <a:xfrm>
            <a:off x="3931920" y="3502152"/>
            <a:ext cx="21945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AUC gain vs CGM only</a:t>
            </a:r>
            <a:endParaRPr lang="en-US" sz="1300" dirty="0"/>
          </a:p>
        </p:txBody>
      </p:sp>
      <p:sp>
        <p:nvSpPr>
          <p:cNvPr id="12" name="Text 9"/>
          <p:cNvSpPr txBox="1"/>
          <p:nvPr/>
        </p:nvSpPr>
        <p:spPr>
          <a:xfrm>
            <a:off x="3931920" y="3794760"/>
            <a:ext cx="21945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CI 0.010 to 0.020</a:t>
            </a:r>
            <a:endParaRPr lang="en-US" sz="1100" dirty="0"/>
          </a:p>
        </p:txBody>
      </p:sp>
      <p:sp>
        <p:nvSpPr>
          <p:cNvPr id="13" name="Text 10"/>
          <p:cNvSpPr txBox="1"/>
          <p:nvPr/>
        </p:nvSpPr>
        <p:spPr>
          <a:xfrm>
            <a:off x="6309360" y="2788920"/>
            <a:ext cx="219456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82% / 65%</a:t>
            </a:r>
            <a:endParaRPr lang="en-US" sz="3400" dirty="0"/>
          </a:p>
        </p:txBody>
      </p:sp>
      <p:sp>
        <p:nvSpPr>
          <p:cNvPr id="14" name="Text 11"/>
          <p:cNvSpPr txBox="1"/>
          <p:nvPr/>
        </p:nvSpPr>
        <p:spPr>
          <a:xfrm>
            <a:off x="6309360" y="3502152"/>
            <a:ext cx="219456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recall / precision</a:t>
            </a:r>
            <a:endParaRPr lang="en-US" sz="1300" dirty="0"/>
          </a:p>
        </p:txBody>
      </p:sp>
      <p:sp>
        <p:nvSpPr>
          <p:cNvPr id="15" name="Text 12"/>
          <p:cNvSpPr txBox="1"/>
          <p:nvPr/>
        </p:nvSpPr>
        <p:spPr>
          <a:xfrm>
            <a:off x="6309360" y="3794760"/>
            <a:ext cx="219456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at the tuned threshold</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Alert fatigue is a design choice</a:t>
            </a:r>
            <a:endParaRPr lang="en-US" sz="3200" dirty="0"/>
          </a:p>
        </p:txBody>
      </p:sp>
      <p:pic>
        <p:nvPicPr>
          <p:cNvPr id="3" name="Operating points chart" descr="Operating points chart">    </p:cNvPr>
          <p:cNvPicPr>
            <a:picLocks noChangeAspect="1"/>
          </p:cNvPicPr>
          <p:nvPr/>
        </p:nvPicPr>
        <p:blipFill>
          <a:blip r:embed="rId1"/>
          <a:stretch>
            <a:fillRect/>
          </a:stretch>
        </p:blipFill>
        <p:spPr>
          <a:xfrm>
            <a:off x="365760" y="1530096"/>
            <a:ext cx="4206240" cy="2243328"/>
          </a:xfrm>
          <a:prstGeom prst="rect">
            <a:avLst/>
          </a:prstGeom>
        </p:spPr>
      </p:pic>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754880" y="1143000"/>
          <a:ext cx="3931920" cy="914400"/>
        </p:xfrm>
        <a:graphic>
          <a:graphicData uri="http://schemas.openxmlformats.org/drawingml/2006/table">
            <a:tbl>
              <a:tblPr/>
              <a:tblGrid>
                <a:gridCol w="822960"/>
                <a:gridCol w="914400"/>
                <a:gridCol w="914400"/>
                <a:gridCol w="128016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Threshold</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Alerts / day</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False share</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Flagged &gt;=30 min</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14213D"/>
                    </a:solidFill>
                  </a:tcPr>
                </a:tc>
              </a:tr>
              <a:tr h="329184">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0.20</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3.9</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98%</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0.33 *</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r h="329184">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91%</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r h="329184">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0.70</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26%</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79%</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EEF3F7"/>
                    </a:solidFill>
                  </a:tcPr>
                </a:tc>
              </a:tr>
              <a:tr h="329184">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0.85</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3"/>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91440" marR="91440" marT="45720" marB="45720" anchor="ctr">
                    <a:lnL w="6350" cap="flat" cmpd="sng" algn="ctr">
                      <a:solidFill>
                        <a:srgbClr val="DDE3EA"/>
                      </a:solidFill>
                      <a:prstDash val="solid"/>
                      <a:round/>
                      <a:headEnd type="none" w="med" len="med"/>
                      <a:tailEnd type="none" w="med" len="med"/>
                    </a:lnL>
                    <a:lnR w="6350" cap="flat" cmpd="sng" algn="ctr">
                      <a:solidFill>
                        <a:srgbClr val="DDE3EA"/>
                      </a:solidFill>
                      <a:prstDash val="solid"/>
                      <a:round/>
                      <a:headEnd type="none" w="med" len="med"/>
                      <a:tailEnd type="none" w="med" len="med"/>
                    </a:lnR>
                    <a:lnT w="6350" cap="flat" cmpd="sng" algn="ctr">
                      <a:solidFill>
                        <a:srgbClr val="DDE3EA"/>
                      </a:solidFill>
                      <a:prstDash val="solid"/>
                      <a:round/>
                      <a:headEnd type="none" w="med" len="med"/>
                      <a:tailEnd type="none" w="med" len="med"/>
                    </a:lnT>
                    <a:lnB w="6350" cap="flat" cmpd="sng" algn="ctr">
                      <a:solidFill>
                        <a:srgbClr val="DDE3EA"/>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4754880" y="3383280"/>
            <a:ext cx="3931920" cy="109728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At the tuned threshold (*), 58% of alert episodes are not followed by a spike. Raising the threshold cuts false alerts but misses more excursions. The clinician chooses the trade-off.</a:t>
            </a:r>
            <a:endParaRPr lang="en-US" sz="12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Early warning and hypoglycaemia</a:t>
            </a:r>
            <a:endParaRPr lang="en-US" sz="3200" dirty="0"/>
          </a:p>
        </p:txBody>
      </p:sp>
      <p:pic>
        <p:nvPicPr>
          <p:cNvPr id="3" name="Lead time histogram" descr="Lead time histogram">    </p:cNvPr>
          <p:cNvPicPr>
            <a:picLocks noChangeAspect="1"/>
          </p:cNvPicPr>
          <p:nvPr/>
        </p:nvPicPr>
        <p:blipFill>
          <a:blip r:embed="rId1"/>
          <a:stretch>
            <a:fillRect/>
          </a:stretch>
        </p:blipFill>
        <p:spPr>
          <a:xfrm>
            <a:off x="365760" y="1258355"/>
            <a:ext cx="4297680" cy="2512490"/>
          </a:xfrm>
          <a:prstGeom prst="rect">
            <a:avLst/>
          </a:prstGeom>
        </p:spPr>
      </p:pic>
      <p:sp>
        <p:nvSpPr>
          <p:cNvPr id="4" name="Card"/>
          <p:cNvSpPr/>
          <p:nvPr/>
        </p:nvSpPr>
        <p:spPr>
          <a:xfrm>
            <a:off x="4846320" y="1143000"/>
            <a:ext cx="3840480" cy="3108960"/>
          </a:xfrm>
          <a:prstGeom prst="roundRect">
            <a:avLst>
              <a:gd name="adj" fmla="val 3529"/>
            </a:avLst>
          </a:prstGeom>
          <a:solidFill>
            <a:schemeClr val="bg2"/>
          </a:solidFill>
          <a:ln w="12700">
            <a:solidFill>
              <a:schemeClr val="bg2"/>
            </a:solidFill>
            <a:prstDash val="solid"/>
          </a:ln>
        </p:spPr>
      </p:sp>
      <p:sp>
        <p:nvSpPr>
          <p:cNvPr id="5" name="Text 2"/>
          <p:cNvSpPr txBox="1"/>
          <p:nvPr/>
        </p:nvSpPr>
        <p:spPr>
          <a:xfrm>
            <a:off x="5029200" y="1261872"/>
            <a:ext cx="347472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Hypoglycaemia: a rare event</a:t>
            </a:r>
            <a:endParaRPr lang="en-US" sz="1700" dirty="0"/>
          </a:p>
        </p:txBody>
      </p:sp>
      <p:sp>
        <p:nvSpPr>
          <p:cNvPr id="6" name="Text 3"/>
          <p:cNvSpPr txBox="1"/>
          <p:nvPr/>
        </p:nvSpPr>
        <p:spPr>
          <a:xfrm>
            <a:off x="5029200" y="1691640"/>
            <a:ext cx="347472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312 positive rows from 7 patients (6 on insulin)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ROC-AUC 0.970 vs CGM only 0.973: no AUC advantage from the EHR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Recall 89% at precision 9%: a screening aid, not a diagnosis</a:t>
            </a:r>
            <a:endParaRPr lang="en-US" sz="1300" dirty="0"/>
          </a:p>
        </p:txBody>
      </p:sp>
      <p:sp>
        <p:nvSpPr>
          <p:cNvPr id="7" name="Text 4"/>
          <p:cNvSpPr txBox="1"/>
          <p:nvPr/>
        </p:nvSpPr>
        <p:spPr>
          <a:xfrm>
            <a:off x="457200" y="4114800"/>
            <a:ext cx="4206240" cy="4572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Spike warnings come a median 120 min ahead (capped at 120) and flag 99.5% of excursions.</a:t>
            </a:r>
            <a:endParaRPr lang="en-US" sz="12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Does it work for everyone?</a:t>
            </a:r>
            <a:endParaRPr lang="en-US" sz="3200" dirty="0"/>
          </a:p>
        </p:txBody>
      </p:sp>
      <p:pic>
        <p:nvPicPr>
          <p:cNvPr id="3" name="Subgroup chart" descr="Subgroup chart">    </p:cNvPr>
          <p:cNvPicPr>
            <a:picLocks noChangeAspect="1"/>
          </p:cNvPicPr>
          <p:nvPr/>
        </p:nvPicPr>
        <p:blipFill>
          <a:blip r:embed="rId1"/>
          <a:stretch>
            <a:fillRect/>
          </a:stretch>
        </p:blipFill>
        <p:spPr>
          <a:xfrm>
            <a:off x="580703" y="1005840"/>
            <a:ext cx="4690753" cy="3611880"/>
          </a:xfrm>
          <a:prstGeom prst="rect">
            <a:avLst/>
          </a:prstGeom>
        </p:spPr>
      </p:pic>
      <p:sp>
        <p:nvSpPr>
          <p:cNvPr id="4" name="Text 1"/>
          <p:cNvSpPr txBox="1"/>
          <p:nvPr/>
        </p:nvSpPr>
        <p:spPr>
          <a:xfrm>
            <a:off x="5760720" y="1143000"/>
            <a:ext cx="292608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12.1-14.2</a:t>
            </a:r>
            <a:endParaRPr lang="en-US" sz="3400" dirty="0"/>
          </a:p>
        </p:txBody>
      </p:sp>
      <p:sp>
        <p:nvSpPr>
          <p:cNvPr id="5" name="Text 2"/>
          <p:cNvSpPr txBox="1"/>
          <p:nvPr/>
        </p:nvSpPr>
        <p:spPr>
          <a:xfrm>
            <a:off x="5760720" y="1856232"/>
            <a:ext cx="292608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MAE range, mg/dL</a:t>
            </a:r>
            <a:endParaRPr lang="en-US" sz="1300" dirty="0"/>
          </a:p>
        </p:txBody>
      </p:sp>
      <p:sp>
        <p:nvSpPr>
          <p:cNvPr id="6" name="Text 3"/>
          <p:cNvSpPr txBox="1"/>
          <p:nvPr/>
        </p:nvSpPr>
        <p:spPr>
          <a:xfrm>
            <a:off x="5760720" y="2148840"/>
            <a:ext cx="292608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HbA1c &lt;7% to HbA1c &gt;=8%</a:t>
            </a:r>
            <a:endParaRPr lang="en-US" sz="1100" dirty="0"/>
          </a:p>
        </p:txBody>
      </p:sp>
      <p:sp>
        <p:nvSpPr>
          <p:cNvPr id="7" name="Text 4"/>
          <p:cNvSpPr txBox="1"/>
          <p:nvPr/>
        </p:nvSpPr>
        <p:spPr>
          <a:xfrm>
            <a:off x="5760720" y="2743200"/>
            <a:ext cx="292608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&gt;= 46%</a:t>
            </a:r>
            <a:endParaRPr lang="en-US" sz="3400" dirty="0"/>
          </a:p>
        </p:txBody>
      </p:sp>
      <p:sp>
        <p:nvSpPr>
          <p:cNvPr id="8" name="Text 5"/>
          <p:cNvSpPr txBox="1"/>
          <p:nvPr/>
        </p:nvSpPr>
        <p:spPr>
          <a:xfrm>
            <a:off x="5760720" y="3456432"/>
            <a:ext cx="292608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better than persistence</a:t>
            </a:r>
            <a:endParaRPr lang="en-US" sz="1300" dirty="0"/>
          </a:p>
        </p:txBody>
      </p:sp>
      <p:sp>
        <p:nvSpPr>
          <p:cNvPr id="9" name="Text 6"/>
          <p:cNvSpPr txBox="1"/>
          <p:nvPr/>
        </p:nvSpPr>
        <p:spPr>
          <a:xfrm>
            <a:off x="5760720" y="3749040"/>
            <a:ext cx="292608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in every subgroup of 10+ patients</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Robust when inputs break</a:t>
            </a:r>
            <a:endParaRPr lang="en-US" sz="3200" dirty="0"/>
          </a:p>
        </p:txBody>
      </p:sp>
      <p:pic>
        <p:nvPicPr>
          <p:cNvPr id="3" name="Robustness chart" descr="Robustness chart">    </p:cNvPr>
          <p:cNvPicPr>
            <a:picLocks noChangeAspect="1"/>
          </p:cNvPicPr>
          <p:nvPr/>
        </p:nvPicPr>
        <p:blipFill>
          <a:blip r:embed="rId1"/>
          <a:stretch>
            <a:fillRect/>
          </a:stretch>
        </p:blipFill>
        <p:spPr>
          <a:xfrm>
            <a:off x="365760" y="1456048"/>
            <a:ext cx="5394960" cy="2665745"/>
          </a:xfrm>
          <a:prstGeom prst="rect">
            <a:avLst/>
          </a:prstGeom>
        </p:spPr>
      </p:pic>
      <p:sp>
        <p:nvSpPr>
          <p:cNvPr id="4" name="Text 1"/>
          <p:cNvSpPr txBox="1"/>
          <p:nvPr/>
        </p:nvSpPr>
        <p:spPr>
          <a:xfrm>
            <a:off x="5943600" y="1143000"/>
            <a:ext cx="2743200" cy="685800"/>
          </a:xfrm>
          <a:prstGeom prst="rect">
            <a:avLst/>
          </a:prstGeom>
          <a:noFill/>
          <a:ln/>
        </p:spPr>
        <p:txBody>
          <a:bodyPr wrap="square" lIns="0" tIns="0" rIns="0" bIns="0" rtlCol="0" anchor="ctr"/>
          <a:lstStyle/>
          <a:p>
            <a:pPr indent="0" marL="0">
              <a:buNone/>
            </a:pPr>
            <a:r>
              <a:rPr lang="en-US" sz="3400" b="1" dirty="0">
                <a:solidFill>
                  <a:srgbClr val="E4572E"/>
                </a:solidFill>
                <a:latin typeface="Cambria" pitchFamily="34" charset="0"/>
                <a:ea typeface="Cambria" pitchFamily="34" charset="-122"/>
                <a:cs typeface="Cambria" pitchFamily="34" charset="-120"/>
              </a:rPr>
              <a:t>16.6</a:t>
            </a:r>
            <a:endParaRPr lang="en-US" sz="3400" dirty="0"/>
          </a:p>
        </p:txBody>
      </p:sp>
      <p:sp>
        <p:nvSpPr>
          <p:cNvPr id="5" name="Text 2"/>
          <p:cNvSpPr txBox="1"/>
          <p:nvPr/>
        </p:nvSpPr>
        <p:spPr>
          <a:xfrm>
            <a:off x="5943600" y="1856232"/>
            <a:ext cx="274320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plain model, wearables off</a:t>
            </a:r>
            <a:endParaRPr lang="en-US" sz="1300" dirty="0"/>
          </a:p>
        </p:txBody>
      </p:sp>
      <p:sp>
        <p:nvSpPr>
          <p:cNvPr id="6" name="Text 3"/>
          <p:cNvSpPr txBox="1"/>
          <p:nvPr/>
        </p:nvSpPr>
        <p:spPr>
          <a:xfrm>
            <a:off x="5943600" y="2148840"/>
            <a:ext cx="274320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worse than CGM only (14.2)</a:t>
            </a:r>
            <a:endParaRPr lang="en-US" sz="1100" dirty="0"/>
          </a:p>
        </p:txBody>
      </p:sp>
      <p:sp>
        <p:nvSpPr>
          <p:cNvPr id="7" name="Text 4"/>
          <p:cNvSpPr txBox="1"/>
          <p:nvPr/>
        </p:nvSpPr>
        <p:spPr>
          <a:xfrm>
            <a:off x="5943600" y="2743200"/>
            <a:ext cx="274320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13.1</a:t>
            </a:r>
            <a:endParaRPr lang="en-US" sz="3400" dirty="0"/>
          </a:p>
        </p:txBody>
      </p:sp>
      <p:sp>
        <p:nvSpPr>
          <p:cNvPr id="8" name="Text 5"/>
          <p:cNvSpPr txBox="1"/>
          <p:nvPr/>
        </p:nvSpPr>
        <p:spPr>
          <a:xfrm>
            <a:off x="5943600" y="3456432"/>
            <a:ext cx="274320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modality-dropout model</a:t>
            </a:r>
            <a:endParaRPr lang="en-US" sz="1300" dirty="0"/>
          </a:p>
        </p:txBody>
      </p:sp>
      <p:sp>
        <p:nvSpPr>
          <p:cNvPr id="9" name="Text 6"/>
          <p:cNvSpPr txBox="1"/>
          <p:nvPr/>
        </p:nvSpPr>
        <p:spPr>
          <a:xfrm>
            <a:off x="5943600" y="3749040"/>
            <a:ext cx="274320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same scenario, same data</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Holds up beyond the test set</a:t>
            </a:r>
            <a:endParaRPr lang="en-US" sz="3200" dirty="0"/>
          </a:p>
        </p:txBody>
      </p:sp>
      <p:sp>
        <p:nvSpPr>
          <p:cNvPr id="3" name="Card"/>
          <p:cNvSpPr/>
          <p:nvPr/>
        </p:nvSpPr>
        <p:spPr>
          <a:xfrm>
            <a:off x="457200" y="1143000"/>
            <a:ext cx="4023360" cy="3108960"/>
          </a:xfrm>
          <a:prstGeom prst="roundRect">
            <a:avLst>
              <a:gd name="adj" fmla="val 3529"/>
            </a:avLst>
          </a:prstGeom>
          <a:solidFill>
            <a:schemeClr val="bg2"/>
          </a:solidFill>
          <a:ln w="12700">
            <a:solidFill>
              <a:schemeClr val="bg2"/>
            </a:solidFill>
            <a:prstDash val="solid"/>
          </a:ln>
        </p:spPr>
      </p:sp>
      <p:sp>
        <p:nvSpPr>
          <p:cNvPr id="4" name="Text 2"/>
          <p:cNvSpPr txBox="1"/>
          <p:nvPr/>
        </p:nvSpPr>
        <p:spPr>
          <a:xfrm>
            <a:off x="640080" y="1234440"/>
            <a:ext cx="36576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Distribution shift</a:t>
            </a:r>
            <a:endParaRPr lang="en-US" sz="1800" dirty="0"/>
          </a:p>
        </p:txBody>
      </p:sp>
      <p:sp>
        <p:nvSpPr>
          <p:cNvPr id="5" name="Text 3"/>
          <p:cNvSpPr txBox="1"/>
          <p:nvPr/>
        </p:nvSpPr>
        <p:spPr>
          <a:xfrm>
            <a:off x="640080" y="1645920"/>
            <a:ext cx="365760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Unseen cohort of 120: older (63 vs 52 y), heavier (BMI 30.1 vs 27.7), longer disease (9.9 vs 6.6 y).</a:t>
            </a:r>
            <a:endParaRPr lang="en-US" sz="1250" dirty="0"/>
          </a:p>
        </p:txBody>
      </p:sp>
      <p:sp>
        <p:nvSpPr>
          <p:cNvPr id="6" name="Text 4"/>
          <p:cNvSpPr txBox="1"/>
          <p:nvPr/>
        </p:nvSpPr>
        <p:spPr>
          <a:xfrm>
            <a:off x="640080" y="2468880"/>
            <a:ext cx="365760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16.4</a:t>
            </a:r>
            <a:endParaRPr lang="en-US" sz="3400" dirty="0"/>
          </a:p>
        </p:txBody>
      </p:sp>
      <p:sp>
        <p:nvSpPr>
          <p:cNvPr id="7" name="Text 5"/>
          <p:cNvSpPr txBox="1"/>
          <p:nvPr/>
        </p:nvSpPr>
        <p:spPr>
          <a:xfrm>
            <a:off x="640080" y="3182112"/>
            <a:ext cx="365760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fusion MAE</a:t>
            </a:r>
            <a:endParaRPr lang="en-US" sz="1300" dirty="0"/>
          </a:p>
        </p:txBody>
      </p:sp>
      <p:sp>
        <p:nvSpPr>
          <p:cNvPr id="8" name="Text 6"/>
          <p:cNvSpPr txBox="1"/>
          <p:nvPr/>
        </p:nvSpPr>
        <p:spPr>
          <a:xfrm>
            <a:off x="640080" y="3474720"/>
            <a:ext cx="365760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CGM only 18.1, persistence 33.7</a:t>
            </a:r>
            <a:endParaRPr lang="en-US" sz="1100" dirty="0"/>
          </a:p>
        </p:txBody>
      </p:sp>
      <p:sp>
        <p:nvSpPr>
          <p:cNvPr id="9" name="Card"/>
          <p:cNvSpPr/>
          <p:nvPr/>
        </p:nvSpPr>
        <p:spPr>
          <a:xfrm>
            <a:off x="4663440" y="1143000"/>
            <a:ext cx="4023360" cy="3108960"/>
          </a:xfrm>
          <a:prstGeom prst="roundRect">
            <a:avLst>
              <a:gd name="adj" fmla="val 3529"/>
            </a:avLst>
          </a:prstGeom>
          <a:solidFill>
            <a:schemeClr val="bg2"/>
          </a:solidFill>
          <a:ln w="12700">
            <a:solidFill>
              <a:schemeClr val="bg2"/>
            </a:solidFill>
            <a:prstDash val="solid"/>
          </a:ln>
        </p:spPr>
      </p:sp>
      <p:sp>
        <p:nvSpPr>
          <p:cNvPr id="10" name="Text 8"/>
          <p:cNvSpPr txBox="1"/>
          <p:nvPr/>
        </p:nvSpPr>
        <p:spPr>
          <a:xfrm>
            <a:off x="4846320" y="1234440"/>
            <a:ext cx="36576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5-fold patient-level CV</a:t>
            </a:r>
            <a:endParaRPr lang="en-US" sz="1800" dirty="0"/>
          </a:p>
        </p:txBody>
      </p:sp>
      <p:sp>
        <p:nvSpPr>
          <p:cNvPr id="11" name="Text 9"/>
          <p:cNvSpPr txBox="1"/>
          <p:nvPr/>
        </p:nvSpPr>
        <p:spPr>
          <a:xfrm>
            <a:off x="4846320" y="1645920"/>
            <a:ext cx="3657600" cy="4572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Whole patients are held out in every fold.</a:t>
            </a:r>
            <a:endParaRPr lang="en-US" sz="1250" dirty="0"/>
          </a:p>
        </p:txBody>
      </p:sp>
      <p:sp>
        <p:nvSpPr>
          <p:cNvPr id="12" name="Text 10"/>
          <p:cNvSpPr txBox="1"/>
          <p:nvPr/>
        </p:nvSpPr>
        <p:spPr>
          <a:xfrm>
            <a:off x="4846320" y="1874520"/>
            <a:ext cx="365760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13.43 +/- 0.06</a:t>
            </a:r>
            <a:endParaRPr lang="en-US" sz="3400" dirty="0"/>
          </a:p>
        </p:txBody>
      </p:sp>
      <p:sp>
        <p:nvSpPr>
          <p:cNvPr id="13" name="Text 11"/>
          <p:cNvSpPr txBox="1"/>
          <p:nvPr/>
        </p:nvSpPr>
        <p:spPr>
          <a:xfrm>
            <a:off x="4846320" y="2587752"/>
            <a:ext cx="365760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fusion MAE</a:t>
            </a:r>
            <a:endParaRPr lang="en-US" sz="1300" dirty="0"/>
          </a:p>
        </p:txBody>
      </p:sp>
      <p:sp>
        <p:nvSpPr>
          <p:cNvPr id="14" name="Text 12"/>
          <p:cNvSpPr txBox="1"/>
          <p:nvPr/>
        </p:nvSpPr>
        <p:spPr>
          <a:xfrm>
            <a:off x="4846320" y="2880360"/>
            <a:ext cx="365760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CGM only 14.60 +/- 0.14</a:t>
            </a:r>
            <a:endParaRPr lang="en-US" sz="1100" dirty="0"/>
          </a:p>
        </p:txBody>
      </p:sp>
      <p:sp>
        <p:nvSpPr>
          <p:cNvPr id="15" name="Text 13"/>
          <p:cNvSpPr txBox="1"/>
          <p:nvPr/>
        </p:nvSpPr>
        <p:spPr>
          <a:xfrm>
            <a:off x="4846320" y="2971800"/>
            <a:ext cx="365760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13.5</a:t>
            </a:r>
            <a:endParaRPr lang="en-US" sz="3400" dirty="0"/>
          </a:p>
        </p:txBody>
      </p:sp>
      <p:sp>
        <p:nvSpPr>
          <p:cNvPr id="16" name="Text 14"/>
          <p:cNvSpPr txBox="1"/>
          <p:nvPr/>
        </p:nvSpPr>
        <p:spPr>
          <a:xfrm>
            <a:off x="4846320" y="3685032"/>
            <a:ext cx="365760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cold-start fusion MAE</a:t>
            </a:r>
            <a:endParaRPr lang="en-US" sz="1300" dirty="0"/>
          </a:p>
        </p:txBody>
      </p:sp>
      <p:sp>
        <p:nvSpPr>
          <p:cNvPr id="17" name="Text 15"/>
          <p:cNvSpPr txBox="1"/>
          <p:nvPr/>
        </p:nvSpPr>
        <p:spPr>
          <a:xfrm>
            <a:off x="4846320" y="3977640"/>
            <a:ext cx="3657600" cy="45720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CGM-only cold 17.0</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Why this forecast?</a:t>
            </a:r>
            <a:endParaRPr lang="en-US" sz="3200" dirty="0"/>
          </a:p>
        </p:txBody>
      </p:sp>
      <p:pic>
        <p:nvPicPr>
          <p:cNvPr id="3" name="Group importance" descr="Group importance">    </p:cNvPr>
          <p:cNvPicPr>
            <a:picLocks noChangeAspect="1"/>
          </p:cNvPicPr>
          <p:nvPr/>
        </p:nvPicPr>
        <p:blipFill>
          <a:blip r:embed="rId1"/>
          <a:stretch>
            <a:fillRect/>
          </a:stretch>
        </p:blipFill>
        <p:spPr>
          <a:xfrm>
            <a:off x="365760" y="1134466"/>
            <a:ext cx="4754880" cy="2028749"/>
          </a:xfrm>
          <a:prstGeom prst="rect">
            <a:avLst/>
          </a:prstGeom>
        </p:spPr>
      </p:pic>
      <p:sp>
        <p:nvSpPr>
          <p:cNvPr id="4" name="Text 1"/>
          <p:cNvSpPr txBox="1"/>
          <p:nvPr/>
        </p:nvSpPr>
        <p:spPr>
          <a:xfrm>
            <a:off x="457200" y="3337560"/>
            <a:ext cx="4572000" cy="914400"/>
          </a:xfrm>
          <a:prstGeom prst="rect">
            <a:avLst/>
          </a:prstGeom>
          <a:noFill/>
          <a:ln/>
        </p:spPr>
        <p:txBody>
          <a:bodyPr wrap="square" lIns="0" tIns="0" rIns="0" bIns="0" rtlCol="0" anchor="t"/>
          <a:lstStyle/>
          <a:p>
            <a:pPr indent="0" marL="0">
              <a:buNone/>
            </a:pPr>
            <a:r>
              <a:rPr lang="en-US" sz="1250" dirty="0">
                <a:solidFill>
                  <a:schemeClr val="tx1"/>
                </a:solidFill>
                <a:latin typeface="Calibri" pitchFamily="34" charset="0"/>
                <a:ea typeface="Calibri" pitchFamily="34" charset="-122"/>
                <a:cs typeface="Calibri" pitchFamily="34" charset="-120"/>
              </a:rPr>
              <a:t>Globally, glucose history dominates, the EHR is second, meals third and wearables add least in this simulation, partly because exercise already shows up in the CGM trace.</a:t>
            </a:r>
            <a:endParaRPr lang="en-US" sz="1250" dirty="0"/>
          </a:p>
        </p:txBody>
      </p:sp>
      <p:sp>
        <p:nvSpPr>
          <p:cNvPr id="5" name="Card"/>
          <p:cNvSpPr/>
          <p:nvPr/>
        </p:nvSpPr>
        <p:spPr>
          <a:xfrm>
            <a:off x="5303520" y="1143000"/>
            <a:ext cx="3383280" cy="3108960"/>
          </a:xfrm>
          <a:prstGeom prst="roundRect">
            <a:avLst>
              <a:gd name="adj" fmla="val 3529"/>
            </a:avLst>
          </a:prstGeom>
          <a:solidFill>
            <a:schemeClr val="bg2"/>
          </a:solidFill>
          <a:ln w="12700">
            <a:solidFill>
              <a:schemeClr val="bg2"/>
            </a:solidFill>
            <a:prstDash val="solid"/>
          </a:ln>
        </p:spPr>
      </p:sp>
      <p:sp>
        <p:nvSpPr>
          <p:cNvPr id="6" name="Text 3"/>
          <p:cNvSpPr txBox="1"/>
          <p:nvPr/>
        </p:nvSpPr>
        <p:spPr>
          <a:xfrm>
            <a:off x="5486400" y="1234440"/>
            <a:ext cx="3017520" cy="36576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In the dashboard</a:t>
            </a:r>
            <a:endParaRPr lang="en-US" sz="1700" dirty="0"/>
          </a:p>
        </p:txBody>
      </p:sp>
      <p:sp>
        <p:nvSpPr>
          <p:cNvPr id="7" name="Text 4"/>
          <p:cNvSpPr txBox="1"/>
          <p:nvPr/>
        </p:nvSpPr>
        <p:spPr>
          <a:xfrm>
            <a:off x="5486400" y="1691640"/>
            <a:ext cx="301752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Per-patient bars show how each data group pushes this forecast up or down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Red raises glucose, green lowers it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Stream-health warnings when data is missing</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Forecast vs reality</a:t>
            </a:r>
            <a:endParaRPr lang="en-US" sz="3200" dirty="0"/>
          </a:p>
        </p:txBody>
      </p:sp>
      <p:pic>
        <p:nvPicPr>
          <p:cNvPr id="3" name="Forecast vs actual" descr="Forecast vs actual">    </p:cNvPr>
          <p:cNvPicPr>
            <a:picLocks noChangeAspect="1"/>
          </p:cNvPicPr>
          <p:nvPr/>
        </p:nvPicPr>
        <p:blipFill>
          <a:blip r:embed="rId1"/>
          <a:stretch>
            <a:fillRect/>
          </a:stretch>
        </p:blipFill>
        <p:spPr>
          <a:xfrm>
            <a:off x="462915" y="1051560"/>
            <a:ext cx="7303770" cy="3246120"/>
          </a:xfrm>
          <a:prstGeom prst="rect">
            <a:avLst/>
          </a:prstGeom>
        </p:spPr>
      </p:pic>
      <p:sp>
        <p:nvSpPr>
          <p:cNvPr id="4" name="Text 1"/>
          <p:cNvSpPr txBox="1"/>
          <p:nvPr/>
        </p:nvSpPr>
        <p:spPr>
          <a:xfrm>
            <a:off x="7726680" y="1280160"/>
            <a:ext cx="1097280" cy="685800"/>
          </a:xfrm>
          <a:prstGeom prst="rect">
            <a:avLst/>
          </a:prstGeom>
          <a:noFill/>
          <a:ln/>
        </p:spPr>
        <p:txBody>
          <a:bodyPr wrap="square" lIns="0" tIns="0" rIns="0" bIns="0" rtlCol="0" anchor="ctr"/>
          <a:lstStyle/>
          <a:p>
            <a:pPr indent="0" marL="0">
              <a:buNone/>
            </a:pPr>
            <a:r>
              <a:rPr lang="en-US" sz="3400" b="1" dirty="0">
                <a:solidFill>
                  <a:srgbClr val="0E9F8E"/>
                </a:solidFill>
                <a:latin typeface="Cambria" pitchFamily="34" charset="0"/>
                <a:ea typeface="Cambria" pitchFamily="34" charset="-122"/>
                <a:cs typeface="Cambria" pitchFamily="34" charset="-120"/>
              </a:rPr>
              <a:t>79%</a:t>
            </a:r>
            <a:endParaRPr lang="en-US" sz="3400" dirty="0"/>
          </a:p>
        </p:txBody>
      </p:sp>
      <p:sp>
        <p:nvSpPr>
          <p:cNvPr id="5" name="Text 2"/>
          <p:cNvSpPr txBox="1"/>
          <p:nvPr/>
        </p:nvSpPr>
        <p:spPr>
          <a:xfrm>
            <a:off x="7726680" y="1993392"/>
            <a:ext cx="1097280" cy="292608"/>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inside the 80% band</a:t>
            </a:r>
            <a:endParaRPr lang="en-US" sz="1300" dirty="0"/>
          </a:p>
        </p:txBody>
      </p:sp>
      <p:sp>
        <p:nvSpPr>
          <p:cNvPr id="6" name="Text 3"/>
          <p:cNvSpPr txBox="1"/>
          <p:nvPr/>
        </p:nvSpPr>
        <p:spPr>
          <a:xfrm>
            <a:off x="457200" y="4343400"/>
            <a:ext cx="7680960" cy="457200"/>
          </a:xfrm>
          <a:prstGeom prst="rect">
            <a:avLst/>
          </a:prstGeom>
          <a:noFill/>
          <a:ln/>
        </p:spPr>
        <p:txBody>
          <a:bodyPr wrap="square" lIns="0" tIns="0" rIns="0" bIns="0" rtlCol="0" anchor="t"/>
          <a:lstStyle/>
          <a:p>
            <a:pPr indent="0" marL="0">
              <a:buNone/>
            </a:pPr>
            <a:r>
              <a:rPr lang="en-US" sz="1150" dirty="0">
                <a:solidFill>
                  <a:srgbClr val="8A94A6"/>
                </a:solidFill>
                <a:latin typeface="Calibri" pitchFamily="34" charset="0"/>
                <a:ea typeface="Calibri" pitchFamily="34" charset="-122"/>
                <a:cs typeface="Calibri" pitchFamily="34" charset="-120"/>
              </a:rPr>
              <a:t>Held-out virtual patient. Each forecast was made two hours earlier. The sharpest peaks are underestimated; the band widens to show uncertainty.</a:t>
            </a:r>
            <a:endParaRPr lang="en-US" sz="11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doctor's view</a:t>
            </a:r>
            <a:endParaRPr lang="en-US" sz="3200" dirty="0"/>
          </a:p>
        </p:txBody>
      </p:sp>
      <p:sp>
        <p:nvSpPr>
          <p:cNvPr id="3" name="Card"/>
          <p:cNvSpPr/>
          <p:nvPr/>
        </p:nvSpPr>
        <p:spPr>
          <a:xfrm>
            <a:off x="457200" y="1143000"/>
            <a:ext cx="2651760" cy="1554480"/>
          </a:xfrm>
          <a:prstGeom prst="roundRect">
            <a:avLst>
              <a:gd name="adj" fmla="val 7059"/>
            </a:avLst>
          </a:prstGeom>
          <a:solidFill>
            <a:schemeClr val="bg2"/>
          </a:solidFill>
          <a:ln w="12700">
            <a:solidFill>
              <a:schemeClr val="bg2"/>
            </a:solidFill>
            <a:prstDash val="solid"/>
          </a:ln>
        </p:spPr>
      </p:sp>
      <p:sp>
        <p:nvSpPr>
          <p:cNvPr id="4" name="IconCircle"/>
          <p:cNvSpPr/>
          <p:nvPr/>
        </p:nvSpPr>
        <p:spPr>
          <a:xfrm>
            <a:off x="640080" y="1325880"/>
            <a:ext cx="502920" cy="502920"/>
          </a:xfrm>
          <a:prstGeom prst="ellipse">
            <a:avLst/>
          </a:prstGeom>
          <a:solidFill>
            <a:srgbClr val="0E9F8E"/>
          </a:solidFill>
          <a:ln w="12700">
            <a:solidFill>
              <a:srgbClr val="0E9F8E"/>
            </a:solidFill>
            <a:prstDash val="solid"/>
          </a:ln>
        </p:spPr>
      </p:sp>
      <p:pic>
        <p:nvPicPr>
          <p:cNvPr id="5" name="Icon" descr="preencoded.png">    </p:cNvPr>
          <p:cNvPicPr>
            <a:picLocks noChangeAspect="1"/>
          </p:cNvPicPr>
          <p:nvPr/>
        </p:nvPicPr>
        <p:blipFill>
          <a:blip r:embed="rId1"/>
          <a:stretch>
            <a:fillRect/>
          </a:stretch>
        </p:blipFill>
        <p:spPr>
          <a:xfrm>
            <a:off x="750722" y="1436522"/>
            <a:ext cx="281635" cy="281635"/>
          </a:xfrm>
          <a:prstGeom prst="rect">
            <a:avLst/>
          </a:prstGeom>
        </p:spPr>
      </p:pic>
      <p:sp>
        <p:nvSpPr>
          <p:cNvPr id="6" name="Text 3"/>
          <p:cNvSpPr txBox="1"/>
          <p:nvPr/>
        </p:nvSpPr>
        <p:spPr>
          <a:xfrm>
            <a:off x="1280160" y="1325880"/>
            <a:ext cx="1737360" cy="5029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Twin view</a:t>
            </a:r>
            <a:endParaRPr lang="en-US" sz="1400" dirty="0"/>
          </a:p>
        </p:txBody>
      </p:sp>
      <p:sp>
        <p:nvSpPr>
          <p:cNvPr id="7" name="Text 4"/>
          <p:cNvSpPr txBox="1"/>
          <p:nvPr/>
        </p:nvSpPr>
        <p:spPr>
          <a:xfrm>
            <a:off x="640080" y="1965960"/>
            <a:ext cx="233172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Forecasts, hyper and hypo tiles, why-this-forecast, clinical summary.</a:t>
            </a:r>
            <a:endParaRPr lang="en-US" sz="1200" dirty="0"/>
          </a:p>
        </p:txBody>
      </p:sp>
      <p:sp>
        <p:nvSpPr>
          <p:cNvPr id="8" name="Card"/>
          <p:cNvSpPr/>
          <p:nvPr/>
        </p:nvSpPr>
        <p:spPr>
          <a:xfrm>
            <a:off x="3246120" y="1143000"/>
            <a:ext cx="2651760" cy="1554480"/>
          </a:xfrm>
          <a:prstGeom prst="roundRect">
            <a:avLst>
              <a:gd name="adj" fmla="val 7059"/>
            </a:avLst>
          </a:prstGeom>
          <a:solidFill>
            <a:schemeClr val="bg2"/>
          </a:solidFill>
          <a:ln w="12700">
            <a:solidFill>
              <a:schemeClr val="bg2"/>
            </a:solidFill>
            <a:prstDash val="solid"/>
          </a:ln>
        </p:spPr>
      </p:sp>
      <p:sp>
        <p:nvSpPr>
          <p:cNvPr id="9" name="IconCircle"/>
          <p:cNvSpPr/>
          <p:nvPr/>
        </p:nvSpPr>
        <p:spPr>
          <a:xfrm>
            <a:off x="3429000" y="1325880"/>
            <a:ext cx="502920" cy="502920"/>
          </a:xfrm>
          <a:prstGeom prst="ellipse">
            <a:avLst/>
          </a:prstGeom>
          <a:solidFill>
            <a:srgbClr val="5C8EA8"/>
          </a:solidFill>
          <a:ln w="12700">
            <a:solidFill>
              <a:srgbClr val="5C8EA8"/>
            </a:solidFill>
            <a:prstDash val="solid"/>
          </a:ln>
        </p:spPr>
      </p:sp>
      <p:pic>
        <p:nvPicPr>
          <p:cNvPr id="10" name="Icon" descr="preencoded.png">    </p:cNvPr>
          <p:cNvPicPr>
            <a:picLocks noChangeAspect="1"/>
          </p:cNvPicPr>
          <p:nvPr/>
        </p:nvPicPr>
        <p:blipFill>
          <a:blip r:embed="rId2"/>
          <a:stretch>
            <a:fillRect/>
          </a:stretch>
        </p:blipFill>
        <p:spPr>
          <a:xfrm>
            <a:off x="3539642" y="1436522"/>
            <a:ext cx="281635" cy="281635"/>
          </a:xfrm>
          <a:prstGeom prst="rect">
            <a:avLst/>
          </a:prstGeom>
        </p:spPr>
      </p:pic>
      <p:sp>
        <p:nvSpPr>
          <p:cNvPr id="11" name="Text 7"/>
          <p:cNvSpPr txBox="1"/>
          <p:nvPr/>
        </p:nvSpPr>
        <p:spPr>
          <a:xfrm>
            <a:off x="4069080" y="1325880"/>
            <a:ext cx="1737360" cy="5029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Cohort board</a:t>
            </a:r>
            <a:endParaRPr lang="en-US" sz="1400" dirty="0"/>
          </a:p>
        </p:txBody>
      </p:sp>
      <p:sp>
        <p:nvSpPr>
          <p:cNvPr id="12" name="Text 8"/>
          <p:cNvSpPr txBox="1"/>
          <p:nvPr/>
        </p:nvSpPr>
        <p:spPr>
          <a:xfrm>
            <a:off x="3429000" y="1965960"/>
            <a:ext cx="233172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patient ranked by risk right now.</a:t>
            </a:r>
            <a:endParaRPr lang="en-US" sz="1200" dirty="0"/>
          </a:p>
        </p:txBody>
      </p:sp>
      <p:sp>
        <p:nvSpPr>
          <p:cNvPr id="13" name="Card"/>
          <p:cNvSpPr/>
          <p:nvPr/>
        </p:nvSpPr>
        <p:spPr>
          <a:xfrm>
            <a:off x="6035040" y="1143000"/>
            <a:ext cx="2651760" cy="1554480"/>
          </a:xfrm>
          <a:prstGeom prst="roundRect">
            <a:avLst>
              <a:gd name="adj" fmla="val 7059"/>
            </a:avLst>
          </a:prstGeom>
          <a:solidFill>
            <a:schemeClr val="bg2"/>
          </a:solidFill>
          <a:ln w="12700">
            <a:solidFill>
              <a:schemeClr val="bg2"/>
            </a:solidFill>
            <a:prstDash val="solid"/>
          </a:ln>
        </p:spPr>
      </p:sp>
      <p:sp>
        <p:nvSpPr>
          <p:cNvPr id="14" name="IconCircle"/>
          <p:cNvSpPr/>
          <p:nvPr/>
        </p:nvSpPr>
        <p:spPr>
          <a:xfrm>
            <a:off x="6217920" y="1325880"/>
            <a:ext cx="502920" cy="502920"/>
          </a:xfrm>
          <a:prstGeom prst="ellipse">
            <a:avLst/>
          </a:prstGeom>
          <a:solidFill>
            <a:srgbClr val="E4572E"/>
          </a:solidFill>
          <a:ln w="12700">
            <a:solidFill>
              <a:srgbClr val="E4572E"/>
            </a:solidFill>
            <a:prstDash val="solid"/>
          </a:ln>
        </p:spPr>
      </p:sp>
      <p:pic>
        <p:nvPicPr>
          <p:cNvPr id="15" name="Icon" descr="preencoded.png">    </p:cNvPr>
          <p:cNvPicPr>
            <a:picLocks noChangeAspect="1"/>
          </p:cNvPicPr>
          <p:nvPr/>
        </p:nvPicPr>
        <p:blipFill>
          <a:blip r:embed="rId3"/>
          <a:stretch>
            <a:fillRect/>
          </a:stretch>
        </p:blipFill>
        <p:spPr>
          <a:xfrm>
            <a:off x="6328562" y="1436522"/>
            <a:ext cx="281635" cy="281635"/>
          </a:xfrm>
          <a:prstGeom prst="rect">
            <a:avLst/>
          </a:prstGeom>
        </p:spPr>
      </p:pic>
      <p:sp>
        <p:nvSpPr>
          <p:cNvPr id="16" name="Text 11"/>
          <p:cNvSpPr txBox="1"/>
          <p:nvPr/>
        </p:nvSpPr>
        <p:spPr>
          <a:xfrm>
            <a:off x="6858000" y="1325880"/>
            <a:ext cx="1737360" cy="5029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What-if planner</a:t>
            </a:r>
            <a:endParaRPr lang="en-US" sz="1400" dirty="0"/>
          </a:p>
        </p:txBody>
      </p:sp>
      <p:sp>
        <p:nvSpPr>
          <p:cNvPr id="17" name="Text 12"/>
          <p:cNvSpPr txBox="1"/>
          <p:nvPr/>
        </p:nvSpPr>
        <p:spPr>
          <a:xfrm>
            <a:off x="6217920" y="1965960"/>
            <a:ext cx="233172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Eat, halve, walk after or skip: the next three hours.</a:t>
            </a:r>
            <a:endParaRPr lang="en-US" sz="1200" dirty="0"/>
          </a:p>
        </p:txBody>
      </p:sp>
      <p:sp>
        <p:nvSpPr>
          <p:cNvPr id="18" name="Card"/>
          <p:cNvSpPr/>
          <p:nvPr/>
        </p:nvSpPr>
        <p:spPr>
          <a:xfrm>
            <a:off x="457200" y="2834640"/>
            <a:ext cx="2651760" cy="1554480"/>
          </a:xfrm>
          <a:prstGeom prst="roundRect">
            <a:avLst>
              <a:gd name="adj" fmla="val 7059"/>
            </a:avLst>
          </a:prstGeom>
          <a:solidFill>
            <a:schemeClr val="bg2"/>
          </a:solidFill>
          <a:ln w="12700">
            <a:solidFill>
              <a:schemeClr val="bg2"/>
            </a:solidFill>
            <a:prstDash val="solid"/>
          </a:ln>
        </p:spPr>
      </p:sp>
      <p:sp>
        <p:nvSpPr>
          <p:cNvPr id="19" name="IconCircle"/>
          <p:cNvSpPr/>
          <p:nvPr/>
        </p:nvSpPr>
        <p:spPr>
          <a:xfrm>
            <a:off x="640080" y="3017520"/>
            <a:ext cx="502920" cy="502920"/>
          </a:xfrm>
          <a:prstGeom prst="ellipse">
            <a:avLst/>
          </a:prstGeom>
          <a:solidFill>
            <a:srgbClr val="F2A541"/>
          </a:solidFill>
          <a:ln w="12700">
            <a:solidFill>
              <a:srgbClr val="F2A541"/>
            </a:solidFill>
            <a:prstDash val="solid"/>
          </a:ln>
        </p:spPr>
      </p:sp>
      <p:pic>
        <p:nvPicPr>
          <p:cNvPr id="20" name="Icon" descr="preencoded.png">    </p:cNvPr>
          <p:cNvPicPr>
            <a:picLocks noChangeAspect="1"/>
          </p:cNvPicPr>
          <p:nvPr/>
        </p:nvPicPr>
        <p:blipFill>
          <a:blip r:embed="rId4"/>
          <a:stretch>
            <a:fillRect/>
          </a:stretch>
        </p:blipFill>
        <p:spPr>
          <a:xfrm>
            <a:off x="750722" y="3128162"/>
            <a:ext cx="281635" cy="281635"/>
          </a:xfrm>
          <a:prstGeom prst="rect">
            <a:avLst/>
          </a:prstGeom>
        </p:spPr>
      </p:pic>
      <p:sp>
        <p:nvSpPr>
          <p:cNvPr id="21" name="Text 15"/>
          <p:cNvSpPr txBox="1"/>
          <p:nvPr/>
        </p:nvSpPr>
        <p:spPr>
          <a:xfrm>
            <a:off x="1280160" y="3017520"/>
            <a:ext cx="1737360" cy="5029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Data fusion</a:t>
            </a:r>
            <a:endParaRPr lang="en-US" sz="1400" dirty="0"/>
          </a:p>
        </p:txBody>
      </p:sp>
      <p:sp>
        <p:nvSpPr>
          <p:cNvPr id="22" name="Text 16"/>
          <p:cNvSpPr txBox="1"/>
          <p:nvPr/>
        </p:nvSpPr>
        <p:spPr>
          <a:xfrm>
            <a:off x="640080" y="3657600"/>
            <a:ext cx="233172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EHR profile, wearable streams and the fused feature vector.</a:t>
            </a:r>
            <a:endParaRPr lang="en-US" sz="1200" dirty="0"/>
          </a:p>
        </p:txBody>
      </p:sp>
      <p:sp>
        <p:nvSpPr>
          <p:cNvPr id="23" name="Card"/>
          <p:cNvSpPr/>
          <p:nvPr/>
        </p:nvSpPr>
        <p:spPr>
          <a:xfrm>
            <a:off x="3246120" y="2834640"/>
            <a:ext cx="2651760" cy="1554480"/>
          </a:xfrm>
          <a:prstGeom prst="roundRect">
            <a:avLst>
              <a:gd name="adj" fmla="val 7059"/>
            </a:avLst>
          </a:prstGeom>
          <a:solidFill>
            <a:schemeClr val="bg2"/>
          </a:solidFill>
          <a:ln w="12700">
            <a:solidFill>
              <a:schemeClr val="bg2"/>
            </a:solidFill>
            <a:prstDash val="solid"/>
          </a:ln>
        </p:spPr>
      </p:sp>
      <p:sp>
        <p:nvSpPr>
          <p:cNvPr id="24" name="IconCircle"/>
          <p:cNvSpPr/>
          <p:nvPr/>
        </p:nvSpPr>
        <p:spPr>
          <a:xfrm>
            <a:off x="3429000" y="3017520"/>
            <a:ext cx="502920" cy="502920"/>
          </a:xfrm>
          <a:prstGeom prst="ellipse">
            <a:avLst/>
          </a:prstGeom>
          <a:solidFill>
            <a:srgbClr val="5C8EA8"/>
          </a:solidFill>
          <a:ln w="12700">
            <a:solidFill>
              <a:srgbClr val="5C8EA8"/>
            </a:solidFill>
            <a:prstDash val="solid"/>
          </a:ln>
        </p:spPr>
      </p:sp>
      <p:pic>
        <p:nvPicPr>
          <p:cNvPr id="25" name="Icon" descr="preencoded.png">    </p:cNvPr>
          <p:cNvPicPr>
            <a:picLocks noChangeAspect="1"/>
          </p:cNvPicPr>
          <p:nvPr/>
        </p:nvPicPr>
        <p:blipFill>
          <a:blip r:embed="rId5"/>
          <a:stretch>
            <a:fillRect/>
          </a:stretch>
        </p:blipFill>
        <p:spPr>
          <a:xfrm>
            <a:off x="3539642" y="3128162"/>
            <a:ext cx="281635" cy="281635"/>
          </a:xfrm>
          <a:prstGeom prst="rect">
            <a:avLst/>
          </a:prstGeom>
        </p:spPr>
      </p:pic>
      <p:sp>
        <p:nvSpPr>
          <p:cNvPr id="26" name="Text 19"/>
          <p:cNvSpPr txBox="1"/>
          <p:nvPr/>
        </p:nvSpPr>
        <p:spPr>
          <a:xfrm>
            <a:off x="4069080" y="3017520"/>
            <a:ext cx="1737360" cy="5029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Data-quality simulator</a:t>
            </a:r>
            <a:endParaRPr lang="en-US" sz="1400" dirty="0"/>
          </a:p>
        </p:txBody>
      </p:sp>
      <p:sp>
        <p:nvSpPr>
          <p:cNvPr id="27" name="Text 20"/>
          <p:cNvSpPr txBox="1"/>
          <p:nvPr/>
        </p:nvSpPr>
        <p:spPr>
          <a:xfrm>
            <a:off x="3429000" y="3657600"/>
            <a:ext cx="233172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Switch off wearables, diary or CGM and watch it degrade safely.</a:t>
            </a:r>
            <a:endParaRPr lang="en-US" sz="1200" dirty="0"/>
          </a:p>
        </p:txBody>
      </p:sp>
      <p:sp>
        <p:nvSpPr>
          <p:cNvPr id="28" name="Card"/>
          <p:cNvSpPr/>
          <p:nvPr/>
        </p:nvSpPr>
        <p:spPr>
          <a:xfrm>
            <a:off x="6035040" y="2834640"/>
            <a:ext cx="2651760" cy="1554480"/>
          </a:xfrm>
          <a:prstGeom prst="roundRect">
            <a:avLst>
              <a:gd name="adj" fmla="val 7059"/>
            </a:avLst>
          </a:prstGeom>
          <a:solidFill>
            <a:schemeClr val="bg2"/>
          </a:solidFill>
          <a:ln w="12700">
            <a:solidFill>
              <a:schemeClr val="bg2"/>
            </a:solidFill>
            <a:prstDash val="solid"/>
          </a:ln>
        </p:spPr>
      </p:sp>
      <p:sp>
        <p:nvSpPr>
          <p:cNvPr id="29" name="IconCircle"/>
          <p:cNvSpPr/>
          <p:nvPr/>
        </p:nvSpPr>
        <p:spPr>
          <a:xfrm>
            <a:off x="6217920" y="3017520"/>
            <a:ext cx="502920" cy="502920"/>
          </a:xfrm>
          <a:prstGeom prst="ellipse">
            <a:avLst/>
          </a:prstGeom>
          <a:solidFill>
            <a:srgbClr val="0E9F8E"/>
          </a:solidFill>
          <a:ln w="12700">
            <a:solidFill>
              <a:srgbClr val="0E9F8E"/>
            </a:solidFill>
            <a:prstDash val="solid"/>
          </a:ln>
        </p:spPr>
      </p:sp>
      <p:pic>
        <p:nvPicPr>
          <p:cNvPr id="30" name="Icon" descr="preencoded.png">    </p:cNvPr>
          <p:cNvPicPr>
            <a:picLocks noChangeAspect="1"/>
          </p:cNvPicPr>
          <p:nvPr/>
        </p:nvPicPr>
        <p:blipFill>
          <a:blip r:embed="rId6"/>
          <a:stretch>
            <a:fillRect/>
          </a:stretch>
        </p:blipFill>
        <p:spPr>
          <a:xfrm>
            <a:off x="6328562" y="3128162"/>
            <a:ext cx="281635" cy="281635"/>
          </a:xfrm>
          <a:prstGeom prst="rect">
            <a:avLst/>
          </a:prstGeom>
        </p:spPr>
      </p:pic>
      <p:sp>
        <p:nvSpPr>
          <p:cNvPr id="31" name="Text 23"/>
          <p:cNvSpPr txBox="1"/>
          <p:nvPr/>
        </p:nvSpPr>
        <p:spPr>
          <a:xfrm>
            <a:off x="6858000" y="3017520"/>
            <a:ext cx="1737360" cy="502920"/>
          </a:xfrm>
          <a:prstGeom prst="rect">
            <a:avLst/>
          </a:prstGeom>
          <a:noFill/>
          <a:ln/>
        </p:spPr>
        <p:txBody>
          <a:bodyPr wrap="square" lIns="0" tIns="0" rIns="0" bIns="0" rtlCol="0" anchor="ctr"/>
          <a:lstStyle/>
          <a:p>
            <a:pPr indent="0" marL="0">
              <a:buNone/>
            </a:pPr>
            <a:r>
              <a:rPr lang="en-US" sz="1400" b="1" dirty="0">
                <a:solidFill>
                  <a:schemeClr val="tx2"/>
                </a:solidFill>
                <a:latin typeface="Cambria" pitchFamily="34" charset="0"/>
                <a:ea typeface="Cambria" pitchFamily="34" charset="-122"/>
                <a:cs typeface="Cambria" pitchFamily="34" charset="-120"/>
              </a:rPr>
              <a:t>Model performance</a:t>
            </a:r>
            <a:endParaRPr lang="en-US" sz="1400" dirty="0"/>
          </a:p>
        </p:txBody>
      </p:sp>
      <p:sp>
        <p:nvSpPr>
          <p:cNvPr id="32" name="Text 24"/>
          <p:cNvSpPr txBox="1"/>
          <p:nvPr/>
        </p:nvSpPr>
        <p:spPr>
          <a:xfrm>
            <a:off x="6217920" y="3657600"/>
            <a:ext cx="2331720" cy="68580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Every evaluation in this deck, interactive.</a:t>
            </a:r>
            <a:endParaRPr lang="en-US" sz="1200" dirty="0"/>
          </a:p>
        </p:txBody>
      </p:sp>
      <p:sp>
        <p:nvSpPr>
          <p:cNvPr id="33" name="Text 25"/>
          <p:cNvSpPr txBox="1"/>
          <p:nvPr/>
        </p:nvSpPr>
        <p:spPr>
          <a:xfrm>
            <a:off x="457200" y="4572000"/>
            <a:ext cx="7863840" cy="27432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Streamlit app in the repository: streamlit run app/dashboard.py   |   Docker image included</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Safe, private, accountable</a:t>
            </a:r>
            <a:endParaRPr lang="en-US" sz="3200" dirty="0"/>
          </a:p>
        </p:txBody>
      </p:sp>
      <p:sp>
        <p:nvSpPr>
          <p:cNvPr id="3" name="Card"/>
          <p:cNvSpPr/>
          <p:nvPr/>
        </p:nvSpPr>
        <p:spPr>
          <a:xfrm>
            <a:off x="457200" y="1143000"/>
            <a:ext cx="2606040" cy="3291840"/>
          </a:xfrm>
          <a:prstGeom prst="roundRect">
            <a:avLst>
              <a:gd name="adj" fmla="val 4211"/>
            </a:avLst>
          </a:prstGeom>
          <a:solidFill>
            <a:schemeClr val="bg2"/>
          </a:solidFill>
          <a:ln w="12700">
            <a:solidFill>
              <a:schemeClr val="bg2"/>
            </a:solidFill>
            <a:prstDash val="solid"/>
          </a:ln>
        </p:spPr>
      </p:sp>
      <p:sp>
        <p:nvSpPr>
          <p:cNvPr id="4" name="IconCircle"/>
          <p:cNvSpPr/>
          <p:nvPr/>
        </p:nvSpPr>
        <p:spPr>
          <a:xfrm>
            <a:off x="685800" y="1325880"/>
            <a:ext cx="594360" cy="594360"/>
          </a:xfrm>
          <a:prstGeom prst="ellipse">
            <a:avLst/>
          </a:prstGeom>
          <a:solidFill>
            <a:srgbClr val="0E9F8E"/>
          </a:solidFill>
          <a:ln w="12700">
            <a:solidFill>
              <a:srgbClr val="0E9F8E"/>
            </a:solidFill>
            <a:prstDash val="solid"/>
          </a:ln>
        </p:spPr>
      </p:sp>
      <p:pic>
        <p:nvPicPr>
          <p:cNvPr id="5" name="Icon" descr="preencoded.png">    </p:cNvPr>
          <p:cNvPicPr>
            <a:picLocks noChangeAspect="1"/>
          </p:cNvPicPr>
          <p:nvPr/>
        </p:nvPicPr>
        <p:blipFill>
          <a:blip r:embed="rId1"/>
          <a:stretch>
            <a:fillRect/>
          </a:stretch>
        </p:blipFill>
        <p:spPr>
          <a:xfrm>
            <a:off x="816559" y="1456639"/>
            <a:ext cx="332842" cy="332842"/>
          </a:xfrm>
          <a:prstGeom prst="rect">
            <a:avLst/>
          </a:prstGeom>
        </p:spPr>
      </p:pic>
      <p:sp>
        <p:nvSpPr>
          <p:cNvPr id="6" name="Text 3"/>
          <p:cNvSpPr txBox="1"/>
          <p:nvPr/>
        </p:nvSpPr>
        <p:spPr>
          <a:xfrm>
            <a:off x="685800" y="2057400"/>
            <a:ext cx="2194560" cy="4572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Human in the loop</a:t>
            </a:r>
            <a:endParaRPr lang="en-US" sz="1700" dirty="0"/>
          </a:p>
        </p:txBody>
      </p:sp>
      <p:sp>
        <p:nvSpPr>
          <p:cNvPr id="7" name="Text 4"/>
          <p:cNvSpPr txBox="1"/>
          <p:nvPr/>
        </p:nvSpPr>
        <p:spPr>
          <a:xfrm>
            <a:off x="685800" y="2606040"/>
            <a:ext cx="224028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Decision support only: it never doses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Uncertainty is always shown</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Missing streams are flagged, not hidden</a:t>
            </a:r>
            <a:endParaRPr lang="en-US" sz="1300" dirty="0"/>
          </a:p>
        </p:txBody>
      </p:sp>
      <p:sp>
        <p:nvSpPr>
          <p:cNvPr id="8" name="Card"/>
          <p:cNvSpPr/>
          <p:nvPr/>
        </p:nvSpPr>
        <p:spPr>
          <a:xfrm>
            <a:off x="3246120" y="1143000"/>
            <a:ext cx="2606040" cy="3291840"/>
          </a:xfrm>
          <a:prstGeom prst="roundRect">
            <a:avLst>
              <a:gd name="adj" fmla="val 4211"/>
            </a:avLst>
          </a:prstGeom>
          <a:solidFill>
            <a:schemeClr val="bg2"/>
          </a:solidFill>
          <a:ln w="12700">
            <a:solidFill>
              <a:schemeClr val="bg2"/>
            </a:solidFill>
            <a:prstDash val="solid"/>
          </a:ln>
        </p:spPr>
      </p:sp>
      <p:sp>
        <p:nvSpPr>
          <p:cNvPr id="9" name="IconCircle"/>
          <p:cNvSpPr/>
          <p:nvPr/>
        </p:nvSpPr>
        <p:spPr>
          <a:xfrm>
            <a:off x="3474720" y="1325880"/>
            <a:ext cx="594360" cy="594360"/>
          </a:xfrm>
          <a:prstGeom prst="ellipse">
            <a:avLst/>
          </a:prstGeom>
          <a:solidFill>
            <a:srgbClr val="5C8EA8"/>
          </a:solidFill>
          <a:ln w="12700">
            <a:solidFill>
              <a:srgbClr val="5C8EA8"/>
            </a:solidFill>
            <a:prstDash val="solid"/>
          </a:ln>
        </p:spPr>
      </p:sp>
      <p:pic>
        <p:nvPicPr>
          <p:cNvPr id="10" name="Icon" descr="preencoded.png">    </p:cNvPr>
          <p:cNvPicPr>
            <a:picLocks noChangeAspect="1"/>
          </p:cNvPicPr>
          <p:nvPr/>
        </p:nvPicPr>
        <p:blipFill>
          <a:blip r:embed="rId2"/>
          <a:stretch>
            <a:fillRect/>
          </a:stretch>
        </p:blipFill>
        <p:spPr>
          <a:xfrm>
            <a:off x="3605479" y="1456639"/>
            <a:ext cx="332842" cy="332842"/>
          </a:xfrm>
          <a:prstGeom prst="rect">
            <a:avLst/>
          </a:prstGeom>
        </p:spPr>
      </p:pic>
      <p:sp>
        <p:nvSpPr>
          <p:cNvPr id="11" name="Text 7"/>
          <p:cNvSpPr txBox="1"/>
          <p:nvPr/>
        </p:nvSpPr>
        <p:spPr>
          <a:xfrm>
            <a:off x="3474720" y="2057400"/>
            <a:ext cx="2194560" cy="4572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Privacy by design</a:t>
            </a:r>
            <a:endParaRPr lang="en-US" sz="1700" dirty="0"/>
          </a:p>
        </p:txBody>
      </p:sp>
      <p:sp>
        <p:nvSpPr>
          <p:cNvPr id="12" name="Text 8"/>
          <p:cNvSpPr txBox="1"/>
          <p:nvPr/>
        </p:nvSpPr>
        <p:spPr>
          <a:xfrm>
            <a:off x="3474720" y="2606040"/>
            <a:ext cx="224028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No real patient data</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Synthetic EHR and sensors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DPDP Act and HIPAA safe</a:t>
            </a:r>
            <a:endParaRPr lang="en-US" sz="1300" dirty="0"/>
          </a:p>
        </p:txBody>
      </p:sp>
      <p:sp>
        <p:nvSpPr>
          <p:cNvPr id="13" name="Card"/>
          <p:cNvSpPr/>
          <p:nvPr/>
        </p:nvSpPr>
        <p:spPr>
          <a:xfrm>
            <a:off x="6035040" y="1143000"/>
            <a:ext cx="2606040" cy="3291840"/>
          </a:xfrm>
          <a:prstGeom prst="roundRect">
            <a:avLst>
              <a:gd name="adj" fmla="val 4211"/>
            </a:avLst>
          </a:prstGeom>
          <a:solidFill>
            <a:schemeClr val="bg2"/>
          </a:solidFill>
          <a:ln w="12700">
            <a:solidFill>
              <a:schemeClr val="bg2"/>
            </a:solidFill>
            <a:prstDash val="solid"/>
          </a:ln>
        </p:spPr>
      </p:sp>
      <p:sp>
        <p:nvSpPr>
          <p:cNvPr id="14" name="IconCircle"/>
          <p:cNvSpPr/>
          <p:nvPr/>
        </p:nvSpPr>
        <p:spPr>
          <a:xfrm>
            <a:off x="6263640" y="1325880"/>
            <a:ext cx="594360" cy="594360"/>
          </a:xfrm>
          <a:prstGeom prst="ellipse">
            <a:avLst/>
          </a:prstGeom>
          <a:solidFill>
            <a:srgbClr val="E4572E"/>
          </a:solidFill>
          <a:ln w="12700">
            <a:solidFill>
              <a:srgbClr val="E4572E"/>
            </a:solidFill>
            <a:prstDash val="solid"/>
          </a:ln>
        </p:spPr>
      </p:sp>
      <p:pic>
        <p:nvPicPr>
          <p:cNvPr id="15" name="Icon" descr="preencoded.png">    </p:cNvPr>
          <p:cNvPicPr>
            <a:picLocks noChangeAspect="1"/>
          </p:cNvPicPr>
          <p:nvPr/>
        </p:nvPicPr>
        <p:blipFill>
          <a:blip r:embed="rId3"/>
          <a:stretch>
            <a:fillRect/>
          </a:stretch>
        </p:blipFill>
        <p:spPr>
          <a:xfrm>
            <a:off x="6394399" y="1456639"/>
            <a:ext cx="332842" cy="332842"/>
          </a:xfrm>
          <a:prstGeom prst="rect">
            <a:avLst/>
          </a:prstGeom>
        </p:spPr>
      </p:pic>
      <p:sp>
        <p:nvSpPr>
          <p:cNvPr id="16" name="Text 11"/>
          <p:cNvSpPr txBox="1"/>
          <p:nvPr/>
        </p:nvSpPr>
        <p:spPr>
          <a:xfrm>
            <a:off x="6263640" y="2057400"/>
            <a:ext cx="2194560" cy="45720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Fair and regulated</a:t>
            </a:r>
            <a:endParaRPr lang="en-US" sz="1700" dirty="0"/>
          </a:p>
        </p:txBody>
      </p:sp>
      <p:sp>
        <p:nvSpPr>
          <p:cNvPr id="17" name="Text 12"/>
          <p:cNvSpPr txBox="1"/>
          <p:nvPr/>
        </p:nvSpPr>
        <p:spPr>
          <a:xfrm>
            <a:off x="6263640" y="2606040"/>
            <a:ext cx="224028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Performance by 5 subgroup types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Alert-fatigue trade-off exposed</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Software-as-medical-device review before any clinical use</a:t>
            </a:r>
            <a:endParaRPr lang="en-US" sz="13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Where DiaTwin fits</a:t>
            </a:r>
            <a:endParaRPr lang="en-US" sz="3200" dirty="0"/>
          </a:p>
        </p:txBody>
      </p:sp>
      <p:sp>
        <p:nvSpPr>
          <p:cNvPr id="3" name="Card"/>
          <p:cNvSpPr/>
          <p:nvPr/>
        </p:nvSpPr>
        <p:spPr>
          <a:xfrm>
            <a:off x="457200" y="1143000"/>
            <a:ext cx="4023360" cy="2377440"/>
          </a:xfrm>
          <a:prstGeom prst="roundRect">
            <a:avLst>
              <a:gd name="adj" fmla="val 4615"/>
            </a:avLst>
          </a:prstGeom>
          <a:solidFill>
            <a:schemeClr val="bg2"/>
          </a:solidFill>
          <a:ln w="12700">
            <a:solidFill>
              <a:schemeClr val="bg2"/>
            </a:solidFill>
            <a:prstDash val="solid"/>
          </a:ln>
        </p:spPr>
      </p:sp>
      <p:sp>
        <p:nvSpPr>
          <p:cNvPr id="4" name="Text 2"/>
          <p:cNvSpPr txBox="1"/>
          <p:nvPr/>
        </p:nvSpPr>
        <p:spPr>
          <a:xfrm>
            <a:off x="685800" y="1280160"/>
            <a:ext cx="3566160" cy="365760"/>
          </a:xfrm>
          <a:prstGeom prst="rect">
            <a:avLst/>
          </a:prstGeom>
          <a:noFill/>
          <a:ln/>
        </p:spPr>
        <p:txBody>
          <a:bodyPr wrap="square" lIns="0" tIns="0" rIns="0" bIns="0" rtlCol="0" anchor="t"/>
          <a:lstStyle/>
          <a:p>
            <a:pPr indent="0" marL="0">
              <a:buNone/>
            </a:pPr>
            <a:r>
              <a:rPr lang="en-US" sz="1800" b="1" dirty="0">
                <a:solidFill>
                  <a:srgbClr val="8A94A6"/>
                </a:solidFill>
                <a:latin typeface="Cambria" pitchFamily="34" charset="0"/>
                <a:ea typeface="Cambria" pitchFamily="34" charset="-122"/>
                <a:cs typeface="Cambria" pitchFamily="34" charset="-120"/>
              </a:rPr>
              <a:t>Common approaches today</a:t>
            </a:r>
            <a:endParaRPr lang="en-US" sz="1800" dirty="0"/>
          </a:p>
        </p:txBody>
      </p:sp>
      <p:sp>
        <p:nvSpPr>
          <p:cNvPr id="5" name="Text 3"/>
          <p:cNvSpPr txBox="1"/>
          <p:nvPr/>
        </p:nvSpPr>
        <p:spPr>
          <a:xfrm>
            <a:off x="685800" y="182880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CGM apps: show glucose history and trends</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Care programmes: coaching and logging</a:t>
            </a:r>
            <a:endParaRPr lang="en-US" sz="1600" dirty="0"/>
          </a:p>
          <a:p>
            <a:pPr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Hospital analytics: periodic risk scores</a:t>
            </a:r>
            <a:endParaRPr lang="en-US" sz="1600" dirty="0"/>
          </a:p>
        </p:txBody>
      </p:sp>
      <p:sp>
        <p:nvSpPr>
          <p:cNvPr id="6" name="Card"/>
          <p:cNvSpPr/>
          <p:nvPr/>
        </p:nvSpPr>
        <p:spPr>
          <a:xfrm>
            <a:off x="4663440" y="1143000"/>
            <a:ext cx="4023360" cy="2377440"/>
          </a:xfrm>
          <a:prstGeom prst="roundRect">
            <a:avLst>
              <a:gd name="adj" fmla="val 4615"/>
            </a:avLst>
          </a:prstGeom>
          <a:solidFill>
            <a:srgbClr val="0E9F8E"/>
          </a:solidFill>
          <a:ln w="12700">
            <a:solidFill>
              <a:srgbClr val="0E9F8E"/>
            </a:solidFill>
            <a:prstDash val="solid"/>
          </a:ln>
        </p:spPr>
      </p:sp>
      <p:sp>
        <p:nvSpPr>
          <p:cNvPr id="7" name="Text 5"/>
          <p:cNvSpPr txBox="1"/>
          <p:nvPr/>
        </p:nvSpPr>
        <p:spPr>
          <a:xfrm>
            <a:off x="4892040" y="1280160"/>
            <a:ext cx="3566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DiaTwin</a:t>
            </a:r>
            <a:endParaRPr lang="en-US" sz="1800" dirty="0"/>
          </a:p>
        </p:txBody>
      </p:sp>
      <p:sp>
        <p:nvSpPr>
          <p:cNvPr id="8" name="Text 6"/>
          <p:cNvSpPr txBox="1"/>
          <p:nvPr/>
        </p:nvSpPr>
        <p:spPr>
          <a:xfrm>
            <a:off x="4892040" y="1828800"/>
            <a:ext cx="356616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Fuses EHR and wearables per patient</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Forecasts, warns and explains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Simulates choices before they are made</a:t>
            </a:r>
            <a:endParaRPr lang="en-US" sz="1600" dirty="0"/>
          </a:p>
        </p:txBody>
      </p:sp>
      <p:sp>
        <p:nvSpPr>
          <p:cNvPr id="9" name="Text 7"/>
          <p:cNvSpPr txBox="1"/>
          <p:nvPr/>
        </p:nvSpPr>
        <p:spPr>
          <a:xfrm>
            <a:off x="457200" y="3749040"/>
            <a:ext cx="8229600" cy="457200"/>
          </a:xfrm>
          <a:prstGeom prst="rect">
            <a:avLst/>
          </a:prstGeom>
          <a:noFill/>
          <a:ln/>
        </p:spPr>
        <p:txBody>
          <a:bodyPr wrap="square" lIns="0" tIns="0" rIns="0" bIns="0" rtlCol="0" anchor="t"/>
          <a:lstStyle/>
          <a:p>
            <a:pPr indent="0" marL="0">
              <a:buNone/>
            </a:pPr>
            <a:r>
              <a:rPr lang="en-US" sz="2000" b="1" dirty="0">
                <a:solidFill>
                  <a:srgbClr val="0E9F8E"/>
                </a:solidFill>
                <a:latin typeface="Cambria" pitchFamily="34" charset="0"/>
                <a:ea typeface="Cambria" pitchFamily="34" charset="-122"/>
                <a:cs typeface="Cambria" pitchFamily="34" charset="-120"/>
              </a:rPr>
              <a:t>The gap we close: personalised, forward-looking, explainable and simulatable.</a:t>
            </a:r>
            <a:endParaRPr lang="en-US" sz="2000" dirty="0"/>
          </a:p>
        </p:txBody>
      </p:sp>
      <p:sp>
        <p:nvSpPr>
          <p:cNvPr id="10" name="Text 8"/>
          <p:cNvSpPr txBox="1"/>
          <p:nvPr/>
        </p:nvSpPr>
        <p:spPr>
          <a:xfrm>
            <a:off x="457200" y="4572000"/>
            <a:ext cx="7863840" cy="27432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Our assessment of common approaches, not an exhaustive market survey.</a:t>
            </a:r>
            <a:endParaRPr lang="en-US" sz="110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Limits and roadmap</a:t>
            </a:r>
            <a:endParaRPr lang="en-US" sz="3200" dirty="0"/>
          </a:p>
        </p:txBody>
      </p:sp>
      <p:sp>
        <p:nvSpPr>
          <p:cNvPr id="3" name="Card"/>
          <p:cNvSpPr/>
          <p:nvPr/>
        </p:nvSpPr>
        <p:spPr>
          <a:xfrm>
            <a:off x="457200" y="1143000"/>
            <a:ext cx="4023360" cy="2926080"/>
          </a:xfrm>
          <a:prstGeom prst="roundRect">
            <a:avLst>
              <a:gd name="adj" fmla="val 3750"/>
            </a:avLst>
          </a:prstGeom>
          <a:solidFill>
            <a:schemeClr val="bg2"/>
          </a:solidFill>
          <a:ln w="12700">
            <a:solidFill>
              <a:schemeClr val="bg2"/>
            </a:solidFill>
            <a:prstDash val="solid"/>
          </a:ln>
        </p:spPr>
      </p:sp>
      <p:sp>
        <p:nvSpPr>
          <p:cNvPr id="4" name="Text 2"/>
          <p:cNvSpPr txBox="1"/>
          <p:nvPr/>
        </p:nvSpPr>
        <p:spPr>
          <a:xfrm>
            <a:off x="640080" y="1234440"/>
            <a:ext cx="3657600" cy="365760"/>
          </a:xfrm>
          <a:prstGeom prst="rect">
            <a:avLst/>
          </a:prstGeom>
          <a:noFill/>
          <a:ln/>
        </p:spPr>
        <p:txBody>
          <a:bodyPr wrap="square" lIns="0" tIns="0" rIns="0" bIns="0" rtlCol="0" anchor="t"/>
          <a:lstStyle/>
          <a:p>
            <a:pPr indent="0" marL="0">
              <a:buNone/>
            </a:pPr>
            <a:r>
              <a:rPr lang="en-US" sz="1800" b="1" dirty="0">
                <a:solidFill>
                  <a:srgbClr val="E4572E"/>
                </a:solidFill>
                <a:latin typeface="Cambria" pitchFamily="34" charset="0"/>
                <a:ea typeface="Cambria" pitchFamily="34" charset="-122"/>
                <a:cs typeface="Cambria" pitchFamily="34" charset="-120"/>
              </a:rPr>
              <a:t>What we do not claim</a:t>
            </a:r>
            <a:endParaRPr lang="en-US" sz="1800" dirty="0"/>
          </a:p>
        </p:txBody>
      </p:sp>
      <p:sp>
        <p:nvSpPr>
          <p:cNvPr id="5" name="Text 3"/>
          <p:cNvSpPr txBox="1"/>
          <p:nvPr/>
        </p:nvSpPr>
        <p:spPr>
          <a:xfrm>
            <a:off x="640080" y="16916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All results are on synthetic data: not clinical claims</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Simulated CGM is less variable than real life</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What-if layer shares the simulator's assumptions</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Hypoglycaemia: few events, 7 test patients</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Default alert threshold is noisy</a:t>
            </a:r>
            <a:endParaRPr lang="en-US" sz="1250" dirty="0"/>
          </a:p>
        </p:txBody>
      </p:sp>
      <p:sp>
        <p:nvSpPr>
          <p:cNvPr id="6" name="Card"/>
          <p:cNvSpPr/>
          <p:nvPr/>
        </p:nvSpPr>
        <p:spPr>
          <a:xfrm>
            <a:off x="4663440" y="1143000"/>
            <a:ext cx="4023360" cy="2926080"/>
          </a:xfrm>
          <a:prstGeom prst="roundRect">
            <a:avLst>
              <a:gd name="adj" fmla="val 3750"/>
            </a:avLst>
          </a:prstGeom>
          <a:solidFill>
            <a:schemeClr val="bg2"/>
          </a:solidFill>
          <a:ln w="12700">
            <a:solidFill>
              <a:schemeClr val="bg2"/>
            </a:solidFill>
            <a:prstDash val="solid"/>
          </a:ln>
        </p:spPr>
      </p:sp>
      <p:sp>
        <p:nvSpPr>
          <p:cNvPr id="7" name="Text 5"/>
          <p:cNvSpPr txBox="1"/>
          <p:nvPr/>
        </p:nvSpPr>
        <p:spPr>
          <a:xfrm>
            <a:off x="4846320" y="1234440"/>
            <a:ext cx="3657600" cy="365760"/>
          </a:xfrm>
          <a:prstGeom prst="rect">
            <a:avLst/>
          </a:prstGeom>
          <a:noFill/>
          <a:ln/>
        </p:spPr>
        <p:txBody>
          <a:bodyPr wrap="square" lIns="0" tIns="0" rIns="0" bIns="0" rtlCol="0" anchor="t"/>
          <a:lstStyle/>
          <a:p>
            <a:pPr indent="0" marL="0">
              <a:buNone/>
            </a:pPr>
            <a:r>
              <a:rPr lang="en-US" sz="1800" b="1" dirty="0">
                <a:solidFill>
                  <a:srgbClr val="0E9F8E"/>
                </a:solidFill>
                <a:latin typeface="Cambria" pitchFamily="34" charset="0"/>
                <a:ea typeface="Cambria" pitchFamily="34" charset="-122"/>
                <a:cs typeface="Cambria" pitchFamily="34" charset="-120"/>
              </a:rPr>
              <a:t>Next steps</a:t>
            </a:r>
            <a:endParaRPr lang="en-US" sz="1800" dirty="0"/>
          </a:p>
        </p:txBody>
      </p:sp>
      <p:sp>
        <p:nvSpPr>
          <p:cNvPr id="8" name="Text 6"/>
          <p:cNvSpPr txBox="1"/>
          <p:nvPr/>
        </p:nvSpPr>
        <p:spPr>
          <a:xfrm>
            <a:off x="4846320" y="1691640"/>
            <a:ext cx="3657600" cy="27432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Validate on real anonymised CGM and EHR data</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Learn the mechanistic parameters from data</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Add dose and medication timing; sequence models</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Clinician usability study, per-patient alert thresholds</a:t>
            </a:r>
            <a:endParaRPr lang="en-US" sz="1250" dirty="0"/>
          </a:p>
          <a:p>
            <a:pPr marL="342900" indent="-342900">
              <a:spcAft>
                <a:spcPts val="600"/>
              </a:spcAft>
              <a:buSzPct val="100000"/>
              <a:buChar char="•"/>
            </a:pPr>
            <a:r>
              <a:rPr lang="en-US" sz="1250" dirty="0">
                <a:solidFill>
                  <a:schemeClr val="tx1"/>
                </a:solidFill>
                <a:latin typeface="Calibri" pitchFamily="34" charset="0"/>
                <a:ea typeface="Calibri" pitchFamily="34" charset="-122"/>
                <a:cs typeface="Calibri" pitchFamily="34" charset="-120"/>
              </a:rPr>
              <a:t>Drift monitoring and regulatory review</a:t>
            </a:r>
            <a:endParaRPr lang="en-US" sz="1250" dirty="0"/>
          </a:p>
        </p:txBody>
      </p:sp>
      <p:sp>
        <p:nvSpPr>
          <p:cNvPr id="25" name="Slide Number Placeholder 0"/>
          <p:cNvSpPr>
            <a:spLocks noGrp="1"/>
          </p:cNvSpPr>
          <p:nvPr>
            <p:ph type="sldNum" sz="quarter" idx="4294967295"/>
          </p:nvPr>
        </p:nvSpPr>
        <p:spPr>
          <a:xfrm>
            <a:off x="841248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640080" y="1463040"/>
            <a:ext cx="786384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Predict. Warn. Simulate.</a:t>
            </a:r>
            <a:endParaRPr lang="en-US" sz="4200" dirty="0"/>
          </a:p>
        </p:txBody>
      </p:sp>
      <p:sp>
        <p:nvSpPr>
          <p:cNvPr id="3" name="Text 1"/>
          <p:cNvSpPr txBox="1"/>
          <p:nvPr/>
        </p:nvSpPr>
        <p:spPr>
          <a:xfrm>
            <a:off x="640080" y="2560320"/>
            <a:ext cx="6949440" cy="822960"/>
          </a:xfrm>
          <a:prstGeom prst="rect">
            <a:avLst/>
          </a:prstGeom>
          <a:noFill/>
          <a:ln/>
        </p:spPr>
        <p:txBody>
          <a:bodyPr wrap="square" lIns="0" tIns="0" rIns="0" bIns="0" rtlCol="0" anchor="t"/>
          <a:lstStyle/>
          <a:p>
            <a:pPr indent="0" marL="0">
              <a:buNone/>
            </a:pPr>
            <a:r>
              <a:rPr lang="en-US" sz="1800" dirty="0">
                <a:solidFill>
                  <a:srgbClr val="CFE9E6"/>
                </a:solidFill>
                <a:latin typeface="Calibri" pitchFamily="34" charset="0"/>
                <a:ea typeface="Calibri" pitchFamily="34" charset="-122"/>
                <a:cs typeface="Calibri" pitchFamily="34" charset="-120"/>
              </a:rPr>
              <a:t>DiaTwin turns a patient's records and wearables into a virtual twin that a doctor can consult before the spike or the low, not after.</a:t>
            </a:r>
            <a:endParaRPr lang="en-US" sz="1800" dirty="0"/>
          </a:p>
        </p:txBody>
      </p:sp>
      <p:sp>
        <p:nvSpPr>
          <p:cNvPr id="4" name="Text 2"/>
          <p:cNvSpPr txBox="1"/>
          <p:nvPr/>
        </p:nvSpPr>
        <p:spPr>
          <a:xfrm>
            <a:off x="640080" y="4343400"/>
            <a:ext cx="7863840" cy="365760"/>
          </a:xfrm>
          <a:prstGeom prst="rect">
            <a:avLst/>
          </a:prstGeom>
          <a:noFill/>
          <a:ln/>
        </p:spPr>
        <p:txBody>
          <a:bodyPr wrap="square" lIns="0" tIns="0" rIns="0" bIns="0" rtlCol="0" anchor="t"/>
          <a:lstStyle/>
          <a:p>
            <a:pPr indent="0" marL="0">
              <a:buNone/>
            </a:pPr>
            <a:r>
              <a:rPr lang="en-US" sz="1200" dirty="0">
                <a:solidFill>
                  <a:srgbClr val="9DB4C0"/>
                </a:solidFill>
                <a:latin typeface="Calibri" pitchFamily="34" charset="0"/>
                <a:ea typeface="Calibri" pitchFamily="34" charset="-122"/>
                <a:cs typeface="Calibri" pitchFamily="34" charset="-120"/>
              </a:rPr>
              <a:t>Team DiaTwin  |  IMT Ghaziabad  |  Code, README, technical report and demo video in the public GitHub repository</a:t>
            </a:r>
            <a:endParaRPr lang="en-US" sz="1200" dirty="0"/>
          </a:p>
        </p:txBody>
      </p:sp>
    </p:spTree>
  </p:cSld>
  <p:clrMapOvr>
    <a:masterClrMapping/>
  </p:clrMapOvr>
</p:sld>
</file>

<file path=ppt/theme/theme1.xml><?xml version="1.0" encoding="utf-8"?>
<a:theme xmlns:a="http://schemas.openxmlformats.org/drawingml/2006/main" name="DiaTwin">
  <a:themeElements>
    <a:clrScheme name="DiaTwin">
      <a:dk1>
        <a:srgbClr val="1B2433"/>
      </a:dk1>
      <a:lt1>
        <a:srgbClr val="FFFFFF"/>
      </a:lt1>
      <a:dk2>
        <a:srgbClr val="14213D"/>
      </a:dk2>
      <a:lt2>
        <a:srgbClr val="EEF3F7"/>
      </a:lt2>
      <a:accent1>
        <a:srgbClr val="0E9F8E"/>
      </a:accent1>
      <a:accent2>
        <a:srgbClr val="E4572E"/>
      </a:accent2>
      <a:accent3>
        <a:srgbClr val="F2A541"/>
      </a:accent3>
      <a:accent4>
        <a:srgbClr val="5C8EA8"/>
      </a:accent4>
      <a:accent5>
        <a:srgbClr val="9DB4C0"/>
      </a:accent5>
      <a:accent6>
        <a:srgbClr val="8A94A6"/>
      </a:accent6>
      <a:hlink>
        <a:srgbClr val="0E9F8E"/>
      </a:hlink>
      <a:folHlink>
        <a:srgbClr val="5C8EA8"/>
      </a:folHlink>
    </a:clrScheme>
    <a:fontScheme name="Dia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DiaTwin - Digital Twin for Type 2 Diabetes</dc:title>
  <dc:subject>PptxGenJS Presentation</dc:subject>
  <dc:creator>Team DiaTwin, IMT Ghaziabad</dc:creator>
  <cp:lastModifiedBy>Team DiaTwin, IMT Ghaziabad</cp:lastModifiedBy>
  <cp:revision>1</cp:revision>
  <dcterms:created xsi:type="dcterms:W3CDTF">2026-10-07T04:38:43Z</dcterms:created>
  <dcterms:modified xsi:type="dcterms:W3CDTF">2026-10-07T04:38:43Z</dcterms:modified>
</cp:coreProperties>
</file>